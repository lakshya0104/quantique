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user.com/pdfdocs/semtech-lora-modem-design.pdf" TargetMode="External"/><Relationship Id="rId3" Type="http://schemas.openxmlformats.org/officeDocument/2006/relationships/hyperlink" Target="https://doi.org/10.1145/2988287.2989163" TargetMode="External"/><Relationship Id="rId4" Type="http://schemas.openxmlformats.org/officeDocument/2006/relationships/hyperlink" Target="https://meshtastic.org/docs/overview/mesh-algo/" TargetMode="External"/><Relationship Id="rId5" Type="http://schemas.openxmlformats.org/officeDocument/2006/relationships/hyperlink" Target="https://meshtastic.org/blog/why-meshtastic-uses-managed-flood-routing/" TargetMode="External"/><Relationship Id="rId6" Type="http://schemas.openxmlformats.org/officeDocument/2006/relationships/hyperlink" Target="https://lora-developers.semtech.com/documentation/tech-papers-and-guides/channel-activity-detection-ensuring-your-lora-packets-are-sent/" TargetMode="External"/><Relationship Id="rId7" Type="http://schemas.openxmlformats.org/officeDocument/2006/relationships/hyperlink" Target="https://cdn.sparkfun.com/assets/7/7/3/2/2/SX1276_Datasheet.pdf" TargetMode="External"/><Relationship Id="rId8" Type="http://schemas.openxmlformats.org/officeDocument/2006/relationships/hyperlink" Target="https://docs.espressif.com/projects/esp-idf/en/v5.0/esp32/api-reference/network/esp_wifi.html" TargetMode="External"/><Relationship Id="rId9" Type="http://schemas.openxmlformats.org/officeDocument/2006/relationships/hyperlink" Target="https://developer.chrome.com/blog/geolocation-on-secure-contexts-only" TargetMode="External"/><Relationship Id="rId10" Type="http://schemas.openxmlformats.org/officeDocument/2006/relationships/hyperlink" Target="https://dot.gov.in/sites/default/files/Clarification%20ETA%20865-867%20MHz.pdf" TargetMode="External"/><Relationship Id="rId11" Type="http://schemas.openxmlformats.org/officeDocument/2006/relationships/hyperlink" Target="https://lora-alliance.org/wp-content/uploads/2021/05/RP002-1.0.3-FINAL-1.pdf" TargetMode="External"/><Relationship Id="rId12" Type="http://schemas.openxmlformats.org/officeDocument/2006/relationships/hyperlink" Target="https://sachet.ndma.gov.in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TECH HORIZON 2.0 · THEME: NEXT-GEN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6191D"/>
                </a:solidFill>
                <a:latin typeface="Cambria"/>
              </a:rPr>
              <a:t>VOID-NAV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D66"/>
                </a:solidFill>
                <a:latin typeface="Cambria"/>
              </a:rPr>
              <a:t>An infrastructure-independent SOS network: public SOS nodes and a controlled LoRa relay mesh that carry prioritised, acknowledged emergency messages when towers and internet are 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286000"/>
            <a:ext cx="4937760" cy="23317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B5532A"/>
                </a:solidFill>
                <a:latin typeface="Consola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3472"/>
            <a:ext cx="4617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16191D"/>
                </a:solidFill>
                <a:latin typeface="Calibri"/>
              </a:rPr>
              <a:t>In a major disaster, cellular towers, internet and power fail together. Survivors cannot ask for help, share their location, or reach family, even when responders are only a few kilometres away.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16191D"/>
                </a:solidFill>
                <a:latin typeface="Calibri"/>
              </a:rPr>
              <a:t>A replacement network must work with </a:t>
            </a:r>
            <a:r>
              <a:rPr sz="1050" b="1" i="0">
                <a:solidFill>
                  <a:srgbClr val="16191D"/>
                </a:solidFill>
                <a:latin typeface="Calibri"/>
              </a:rPr>
              <a:t>no cellular or internet dependency</a:t>
            </a:r>
            <a:r>
              <a:rPr sz="1050" b="0" i="0">
                <a:solidFill>
                  <a:srgbClr val="16191D"/>
                </a:solidFill>
                <a:latin typeface="Calibri"/>
              </a:rPr>
              <a:t>, and it must </a:t>
            </a:r>
            <a:r>
              <a:rPr sz="1050" b="1" i="0">
                <a:solidFill>
                  <a:srgbClr val="16191D"/>
                </a:solidFill>
                <a:latin typeface="Calibri"/>
              </a:rPr>
              <a:t>not collapse under its own traffic</a:t>
            </a:r>
            <a:r>
              <a:rPr sz="1050" b="0" i="0">
                <a:solidFill>
                  <a:srgbClr val="16191D"/>
                </a:solidFill>
                <a:latin typeface="Calibri"/>
              </a:rPr>
              <a:t>: as more survivors transmit, retransmissions, duplicates and simultaneous packets can saturate a low-bandwidth radio channel.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16191D"/>
                </a:solidFill>
                <a:latin typeface="Calibri"/>
              </a:rPr>
              <a:t>We need controlled forwarding, priority for urgent cases, delivery acknowledgements and location reporting, within LoRa's airtime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D66"/>
                </a:solidFill>
                <a:latin typeface="Calibri"/>
              </a:rPr>
              <a:t>Team: </a:t>
            </a:r>
            <a:r>
              <a:rPr sz="1000" b="0" i="0">
                <a:solidFill>
                  <a:srgbClr val="16191D"/>
                </a:solidFill>
                <a:latin typeface="Calibri"/>
              </a:rPr>
              <a:t>Team VOID   </a:t>
            </a:r>
            <a:r>
              <a:rPr sz="1000" b="1" i="0">
                <a:solidFill>
                  <a:srgbClr val="555D66"/>
                </a:solidFill>
                <a:latin typeface="Calibri"/>
              </a:rPr>
              <a:t>Team ID: </a:t>
            </a:r>
            <a:r>
              <a:rPr sz="1000" b="0" i="0">
                <a:solidFill>
                  <a:srgbClr val="16191D"/>
                </a:solidFill>
                <a:latin typeface="Calibri"/>
              </a:rPr>
              <a:t>[to be filled]   </a:t>
            </a:r>
            <a:r>
              <a:rPr sz="1000" b="1" i="0">
                <a:solidFill>
                  <a:srgbClr val="555D66"/>
                </a:solidFill>
                <a:latin typeface="Calibri"/>
              </a:rPr>
              <a:t>Category: </a:t>
            </a:r>
            <a:r>
              <a:rPr sz="1000" b="0" i="0">
                <a:solidFill>
                  <a:srgbClr val="16191D"/>
                </a:solidFill>
                <a:latin typeface="Calibri"/>
              </a:rPr>
              <a:t>Next-Gen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029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D66"/>
                </a:solidFill>
                <a:latin typeface="Calibri"/>
              </a:rPr>
              <a:t>Members: </a:t>
            </a:r>
            <a:r>
              <a:rPr sz="1000" b="0" i="0">
                <a:solidFill>
                  <a:srgbClr val="16191D"/>
                </a:solidFill>
                <a:latin typeface="Calibri"/>
              </a:rPr>
              <a:t>[Name 1] · [Name 2] · [Name 3] · [Name 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440680"/>
            <a:ext cx="1572768" cy="77724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5046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5F6B"/>
                </a:solidFill>
                <a:latin typeface="Cambria"/>
              </a:rPr>
              <a:t>Towers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06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no cellular, no internet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4832" y="5440680"/>
            <a:ext cx="1572768" cy="77724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55046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5F6B"/>
                </a:solidFill>
                <a:latin typeface="Cambria"/>
              </a:rPr>
              <a:t>Shared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5806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limited LoRa airtime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8184" y="5440680"/>
            <a:ext cx="1572768" cy="77724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55046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5F6B"/>
                </a:solidFill>
                <a:latin typeface="Cambria"/>
              </a:rPr>
              <a:t>Must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58064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sent ≠ delivered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65760"/>
            <a:ext cx="6126480" cy="598932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475488"/>
            <a:ext cx="5852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555D66"/>
                </a:solidFill>
                <a:latin typeface="Consolas"/>
              </a:rPr>
              <a:t>DISASTER ZONE → PUBLIC SOS NODES → RELAYS →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868680"/>
            <a:ext cx="1874519" cy="1325880"/>
          </a:xfrm>
          <a:prstGeom prst="rect">
            <a:avLst/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309360" y="1143000"/>
            <a:ext cx="137160" cy="8229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46520" y="1143000"/>
            <a:ext cx="137160" cy="8229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446520" y="1005840"/>
            <a:ext cx="0" cy="1371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27648" y="1143000"/>
            <a:ext cx="237744" cy="365760"/>
          </a:xfrm>
          <a:prstGeom prst="line">
            <a:avLst/>
          </a:prstGeom>
          <a:ln w="31750">
            <a:solidFill>
              <a:srgbClr val="B55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327648" y="1143000"/>
            <a:ext cx="237744" cy="365760"/>
          </a:xfrm>
          <a:prstGeom prst="line">
            <a:avLst/>
          </a:prstGeom>
          <a:ln w="31750">
            <a:solidFill>
              <a:srgbClr val="B55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32320" y="1143000"/>
            <a:ext cx="137160" cy="8229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69480" y="1143000"/>
            <a:ext cx="137160" cy="8229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69480" y="1005840"/>
            <a:ext cx="0" cy="13716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50608" y="1143000"/>
            <a:ext cx="237744" cy="365760"/>
          </a:xfrm>
          <a:prstGeom prst="line">
            <a:avLst/>
          </a:prstGeom>
          <a:ln w="31750">
            <a:solidFill>
              <a:srgbClr val="B55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150608" y="1143000"/>
            <a:ext cx="237744" cy="365760"/>
          </a:xfrm>
          <a:prstGeom prst="line">
            <a:avLst/>
          </a:prstGeom>
          <a:ln w="31750">
            <a:solidFill>
              <a:srgbClr val="B55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0" y="198424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B5532A"/>
                </a:solidFill>
                <a:latin typeface="Calibri"/>
              </a:rPr>
              <a:t>Cell towers · internet · grid: DOWN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514600"/>
            <a:ext cx="914400" cy="685800"/>
          </a:xfrm>
          <a:prstGeom prst="rect">
            <a:avLst/>
          </a:prstGeom>
          <a:solidFill>
            <a:srgbClr val="F3F5F6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25511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555D66"/>
                </a:solidFill>
                <a:latin typeface="Calibri"/>
              </a:rPr>
              <a:t>Hospital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770632"/>
            <a:ext cx="548640" cy="329184"/>
          </a:xfrm>
          <a:prstGeom prst="roundRect">
            <a:avLst>
              <a:gd name="adj" fmla="val 15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SOS</a:t>
            </a:r>
          </a:p>
        </p:txBody>
      </p:sp>
      <p:sp>
        <p:nvSpPr>
          <p:cNvPr id="36" name="Oval 35"/>
          <p:cNvSpPr/>
          <p:nvPr/>
        </p:nvSpPr>
        <p:spPr>
          <a:xfrm>
            <a:off x="6739128" y="2798064"/>
            <a:ext cx="82296" cy="8229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6739128" y="2944368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2788920"/>
            <a:ext cx="91440" cy="91440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15000" y="2889503"/>
            <a:ext cx="182880" cy="128016"/>
          </a:xfrm>
          <a:prstGeom prst="roundRect">
            <a:avLst>
              <a:gd name="adj" fmla="val 45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51576" y="2468880"/>
            <a:ext cx="73152" cy="73152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15000" y="2549347"/>
            <a:ext cx="146304" cy="102412"/>
          </a:xfrm>
          <a:prstGeom prst="roundRect">
            <a:avLst>
              <a:gd name="adj" fmla="val 45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89320" y="3611880"/>
            <a:ext cx="914400" cy="685800"/>
          </a:xfrm>
          <a:prstGeom prst="rect">
            <a:avLst/>
          </a:prstGeom>
          <a:solidFill>
            <a:srgbClr val="F3F5F6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36484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555D66"/>
                </a:solidFill>
                <a:latin typeface="Calibri"/>
              </a:rPr>
              <a:t>Gram panchayat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867912"/>
            <a:ext cx="548640" cy="329184"/>
          </a:xfrm>
          <a:prstGeom prst="roundRect">
            <a:avLst>
              <a:gd name="adj" fmla="val 15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SOS</a:t>
            </a:r>
          </a:p>
        </p:txBody>
      </p:sp>
      <p:sp>
        <p:nvSpPr>
          <p:cNvPr id="45" name="Oval 44"/>
          <p:cNvSpPr/>
          <p:nvPr/>
        </p:nvSpPr>
        <p:spPr>
          <a:xfrm>
            <a:off x="6739128" y="3895344"/>
            <a:ext cx="82296" cy="8229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6739128" y="4041648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5760720" y="3886200"/>
            <a:ext cx="91440" cy="91440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15000" y="3986784"/>
            <a:ext cx="182880" cy="128016"/>
          </a:xfrm>
          <a:prstGeom prst="roundRect">
            <a:avLst>
              <a:gd name="adj" fmla="val 45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51576" y="3566160"/>
            <a:ext cx="73152" cy="73152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15000" y="3646627"/>
            <a:ext cx="146304" cy="102412"/>
          </a:xfrm>
          <a:prstGeom prst="roundRect">
            <a:avLst>
              <a:gd name="adj" fmla="val 45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89320" y="4709160"/>
            <a:ext cx="914400" cy="685800"/>
          </a:xfrm>
          <a:prstGeom prst="rect">
            <a:avLst/>
          </a:prstGeom>
          <a:solidFill>
            <a:srgbClr val="F3F5F6"/>
          </a:solidFill>
          <a:ln w="12700">
            <a:solidFill>
              <a:srgbClr val="C9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47457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555D66"/>
                </a:solidFill>
                <a:latin typeface="Calibri"/>
              </a:rPr>
              <a:t>Railway station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4965192"/>
            <a:ext cx="548640" cy="329184"/>
          </a:xfrm>
          <a:prstGeom prst="roundRect">
            <a:avLst>
              <a:gd name="adj" fmla="val 15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SOS</a:t>
            </a:r>
          </a:p>
        </p:txBody>
      </p:sp>
      <p:sp>
        <p:nvSpPr>
          <p:cNvPr id="54" name="Oval 53"/>
          <p:cNvSpPr/>
          <p:nvPr/>
        </p:nvSpPr>
        <p:spPr>
          <a:xfrm>
            <a:off x="6739128" y="4992624"/>
            <a:ext cx="82296" cy="8229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Oval 54"/>
          <p:cNvSpPr/>
          <p:nvPr/>
        </p:nvSpPr>
        <p:spPr>
          <a:xfrm>
            <a:off x="6739128" y="5138928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983480"/>
            <a:ext cx="91440" cy="91440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715000" y="5084064"/>
            <a:ext cx="182880" cy="128016"/>
          </a:xfrm>
          <a:prstGeom prst="roundRect">
            <a:avLst>
              <a:gd name="adj" fmla="val 45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51576" y="4663440"/>
            <a:ext cx="73152" cy="73152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15000" y="4743907"/>
            <a:ext cx="146304" cy="102412"/>
          </a:xfrm>
          <a:prstGeom prst="roundRect">
            <a:avLst>
              <a:gd name="adj" fmla="val 45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863840" y="289864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763255" y="27889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Oval 61"/>
          <p:cNvSpPr/>
          <p:nvPr/>
        </p:nvSpPr>
        <p:spPr>
          <a:xfrm>
            <a:off x="7818119" y="284378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319125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052560" y="225856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951976" y="21488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6" name="Oval 65"/>
          <p:cNvSpPr/>
          <p:nvPr/>
        </p:nvSpPr>
        <p:spPr>
          <a:xfrm>
            <a:off x="9006840" y="220370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255117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961120" y="427024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860536" y="41605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0" name="Oval 69"/>
          <p:cNvSpPr/>
          <p:nvPr/>
        </p:nvSpPr>
        <p:spPr>
          <a:xfrm>
            <a:off x="8915400" y="4215383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456285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149840" y="321868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049255" y="310896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4" name="Oval 73"/>
          <p:cNvSpPr/>
          <p:nvPr/>
        </p:nvSpPr>
        <p:spPr>
          <a:xfrm>
            <a:off x="10104119" y="316382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35112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52760" y="1097280"/>
            <a:ext cx="1051560" cy="1828800"/>
          </a:xfrm>
          <a:prstGeom prst="rect">
            <a:avLst/>
          </a:prstGeom>
          <a:solidFill>
            <a:srgbClr val="E6F0F1"/>
          </a:solidFill>
          <a:ln w="12700">
            <a:solidFill>
              <a:srgbClr val="1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98480" y="11430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F5F6B"/>
                </a:solidFill>
                <a:latin typeface="Calibri"/>
              </a:rPr>
              <a:t>SOS receiving
station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899648" y="1600200"/>
            <a:ext cx="548640" cy="301752"/>
          </a:xfrm>
          <a:prstGeom prst="roundRect">
            <a:avLst>
              <a:gd name="adj" fmla="val 15000"/>
            </a:avLst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771632" y="2057400"/>
            <a:ext cx="822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54511" y="2194560"/>
            <a:ext cx="73152" cy="73152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1" name="Oval 80"/>
          <p:cNvSpPr/>
          <p:nvPr/>
        </p:nvSpPr>
        <p:spPr>
          <a:xfrm>
            <a:off x="11228832" y="2331720"/>
            <a:ext cx="73152" cy="73152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2" name="Oval 81"/>
          <p:cNvSpPr/>
          <p:nvPr/>
        </p:nvSpPr>
        <p:spPr>
          <a:xfrm>
            <a:off x="11365992" y="2167128"/>
            <a:ext cx="73152" cy="7315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3" name="Oval 82"/>
          <p:cNvSpPr/>
          <p:nvPr/>
        </p:nvSpPr>
        <p:spPr>
          <a:xfrm>
            <a:off x="11091672" y="2404872"/>
            <a:ext cx="73152" cy="73152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71048" y="26243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555D66"/>
                </a:solidFill>
                <a:latin typeface="Calibri"/>
              </a:rPr>
              <a:t>Emergency ops dashboard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537960" y="2834640"/>
            <a:ext cx="1234440" cy="137160"/>
          </a:xfrm>
          <a:prstGeom prst="line">
            <a:avLst/>
          </a:prstGeom>
          <a:ln w="22225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955279" y="2331720"/>
            <a:ext cx="1005841" cy="548640"/>
          </a:xfrm>
          <a:prstGeom prst="line">
            <a:avLst/>
          </a:prstGeom>
          <a:ln w="22225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144000" y="1783080"/>
            <a:ext cx="1645920" cy="457200"/>
          </a:xfrm>
          <a:prstGeom prst="line">
            <a:avLst/>
          </a:prstGeom>
          <a:ln w="22225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537960" y="3108960"/>
            <a:ext cx="1234440" cy="822960"/>
          </a:xfrm>
          <a:prstGeom prst="line">
            <a:avLst/>
          </a:prstGeom>
          <a:ln w="22225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537960" y="4389120"/>
            <a:ext cx="2331720" cy="640080"/>
          </a:xfrm>
          <a:prstGeom prst="line">
            <a:avLst/>
          </a:prstGeom>
          <a:ln w="19050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098280" y="3337560"/>
            <a:ext cx="960120" cy="914400"/>
          </a:xfrm>
          <a:prstGeom prst="line">
            <a:avLst/>
          </a:prstGeom>
          <a:ln w="19050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241280" y="2377440"/>
            <a:ext cx="594360" cy="777240"/>
          </a:xfrm>
          <a:prstGeom prst="line">
            <a:avLst/>
          </a:prstGeom>
          <a:ln w="19050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9144000" y="1417320"/>
            <a:ext cx="1600200" cy="59436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863840" y="2103120"/>
            <a:ext cx="1005840" cy="621792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943600" y="5897879"/>
            <a:ext cx="411480" cy="0"/>
          </a:xfrm>
          <a:prstGeom prst="line">
            <a:avLst/>
          </a:prstGeom>
          <a:ln w="22225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419088" y="580644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6191D"/>
                </a:solidFill>
                <a:latin typeface="Calibri"/>
              </a:rPr>
              <a:t>SOS message path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772400" y="5897879"/>
            <a:ext cx="411479" cy="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247888" y="58064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6191D"/>
                </a:solidFill>
                <a:latin typeface="Calibri"/>
              </a:rPr>
              <a:t>acknowledgement (return)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784080" y="5897879"/>
            <a:ext cx="411480" cy="0"/>
          </a:xfrm>
          <a:prstGeom prst="line">
            <a:avLst/>
          </a:prstGeom>
          <a:ln w="19050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0259567" y="58064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6191D"/>
                </a:solidFill>
                <a:latin typeface="Calibri"/>
              </a:rPr>
              <a:t>alternative route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6062472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8A939B"/>
                </a:solidFill>
                <a:latin typeface="Calibri"/>
              </a:rPr>
              <a:t>Illustrative layout: actual SOS sites and relay positions are chosen during preparedness planning.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02 · VOID-NAV · TECH HORIZON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91D"/>
                </a:solidFill>
                <a:latin typeface="Cambria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5D66"/>
                </a:solidFill>
                <a:latin typeface="Cambria"/>
              </a:rPr>
              <a:t>Public SOS points + structured requests + controlled LoRa relaying + end-to-end 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2606040" cy="41605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B5532A"/>
                </a:solidFill>
                <a:latin typeface="Consolas"/>
              </a:rPr>
              <a:t>PROBLEM AT HAND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191D"/>
                </a:solidFill>
                <a:latin typeface="Cambria"/>
              </a:rPr>
              <a:t>Communications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Towers, internet and power go down together; phones lose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310896" cy="310896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191D"/>
                </a:solidFill>
                <a:latin typeface="Cambria"/>
              </a:rPr>
              <a:t>No way to ask for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Survivors can't reliably request rescue, medical aid or supplies.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75304"/>
            <a:ext cx="310896" cy="310896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191D"/>
                </a:solidFill>
                <a:latin typeface="Cambria"/>
              </a:rPr>
              <a:t>Location is unknown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49624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Families and responders can't tell where a request came from.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17136"/>
            <a:ext cx="310896" cy="310896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988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191D"/>
                </a:solidFill>
                <a:latin typeface="Cambria"/>
              </a:rPr>
              <a:t>Forwarding congests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91455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D66"/>
                </a:solidFill>
                <a:latin typeface="Calibri"/>
              </a:rPr>
              <a:t>Unchecked rebroadcasts, duplicates and collisions waste scarce LoRa airtime.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325880"/>
            <a:ext cx="5760720" cy="324612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417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OUR SOLUTION · SYSTEM 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1965960"/>
            <a:ext cx="91440" cy="91440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9000" y="2066543"/>
            <a:ext cx="182880" cy="128016"/>
          </a:xfrm>
          <a:prstGeom prst="roundRect">
            <a:avLst>
              <a:gd name="adj" fmla="val 45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0" y="3154680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3255264"/>
            <a:ext cx="182880" cy="128016"/>
          </a:xfrm>
          <a:prstGeom prst="roundRect">
            <a:avLst>
              <a:gd name="adj" fmla="val 45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2331720"/>
            <a:ext cx="29260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8163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phone (optional)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1783080"/>
            <a:ext cx="1143000" cy="1828800"/>
          </a:xfrm>
          <a:prstGeom prst="rect">
            <a:avLst/>
          </a:prstGeom>
          <a:solidFill>
            <a:srgbClr val="E6F0F1"/>
          </a:solidFill>
          <a:ln w="12700">
            <a:solidFill>
              <a:srgbClr val="1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181051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F5F6B"/>
                </a:solidFill>
                <a:latin typeface="Calibri"/>
              </a:rPr>
              <a:t>SOS ACCESS NODE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2011680"/>
            <a:ext cx="960120" cy="86868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1 Rescue now</a:t>
            </a:r>
          </a:p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2 Injured / medical</a:t>
            </a:r>
          </a:p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3 Trapped</a:t>
            </a:r>
          </a:p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4 Food / water</a:t>
            </a:r>
          </a:p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5 Safe, tell family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87368" y="2944368"/>
            <a:ext cx="182880" cy="128016"/>
          </a:xfrm>
          <a:prstGeom prst="roundRect">
            <a:avLst>
              <a:gd name="adj" fmla="val 3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2944368"/>
            <a:ext cx="182880" cy="128016"/>
          </a:xfrm>
          <a:prstGeom prst="roundRect">
            <a:avLst>
              <a:gd name="adj" fmla="val 3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62856" y="2944368"/>
            <a:ext cx="182880" cy="128016"/>
          </a:xfrm>
          <a:prstGeom prst="roundRect">
            <a:avLst>
              <a:gd name="adj" fmla="val 3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00600" y="2944368"/>
            <a:ext cx="182880" cy="128016"/>
          </a:xfrm>
          <a:prstGeom prst="roundRect">
            <a:avLst>
              <a:gd name="adj" fmla="val 3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60520" y="3182112"/>
            <a:ext cx="118872" cy="118872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17296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16191D"/>
                </a:solidFill>
                <a:latin typeface="Calibri"/>
              </a:rPr>
              <a:t>sent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0" y="3182112"/>
            <a:ext cx="118872" cy="1188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172968"/>
            <a:ext cx="411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16191D"/>
                </a:solidFill>
                <a:latin typeface="Calibri"/>
              </a:rPr>
              <a:t>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3383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ESP32 + LoRa + GPS/fixed loc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57600" y="2103120"/>
            <a:ext cx="320039" cy="9144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75887" y="2560320"/>
            <a:ext cx="301752" cy="0"/>
          </a:xfrm>
          <a:prstGeom prst="line">
            <a:avLst/>
          </a:prstGeom>
          <a:ln w="12700">
            <a:solidFill>
              <a:srgbClr val="1619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77840" y="193852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477256" y="18288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5532120" y="188366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22311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29400" y="193852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28816" y="18288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6583679" y="188366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59" y="22311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035808"/>
            <a:ext cx="0" cy="274320"/>
          </a:xfrm>
          <a:prstGeom prst="line">
            <a:avLst/>
          </a:prstGeom>
          <a:ln w="19050">
            <a:solidFill>
              <a:srgbClr val="8A9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980176" y="29260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Oval 50"/>
          <p:cNvSpPr/>
          <p:nvPr/>
        </p:nvSpPr>
        <p:spPr>
          <a:xfrm>
            <a:off x="6035040" y="2980944"/>
            <a:ext cx="91440" cy="91440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332841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191D"/>
                </a:solidFill>
                <a:latin typeface="Calibri"/>
              </a:rPr>
              <a:t>Relay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1691640"/>
            <a:ext cx="1417320" cy="96012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SOS RECEIVING
STATION</a:t>
            </a:r>
          </a:p>
          <a:p>
            <a:pPr algn="ctr"/>
            <a:r>
              <a:rPr sz="650" b="0" i="0">
                <a:solidFill>
                  <a:srgbClr val="8A939B"/>
                </a:solidFill>
                <a:latin typeface="Calibri"/>
              </a:rPr>
              <a:t>decode · verify · 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27889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Ops dashboard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map · priority list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119871" y="2651760"/>
            <a:ext cx="0" cy="13716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120640" y="1938528"/>
            <a:ext cx="365760" cy="118872"/>
          </a:xfrm>
          <a:prstGeom prst="line">
            <a:avLst/>
          </a:prstGeom>
          <a:ln w="25400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715000" y="1938528"/>
            <a:ext cx="822960" cy="0"/>
          </a:xfrm>
          <a:prstGeom prst="line">
            <a:avLst/>
          </a:prstGeom>
          <a:ln w="25400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66560" y="1938528"/>
            <a:ext cx="640080" cy="73152"/>
          </a:xfrm>
          <a:prstGeom prst="line">
            <a:avLst/>
          </a:prstGeom>
          <a:ln w="25400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6766560" y="2194560"/>
            <a:ext cx="640080" cy="13716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715000" y="2194560"/>
            <a:ext cx="822960" cy="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120640" y="2194560"/>
            <a:ext cx="365760" cy="13716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120640" y="2834640"/>
            <a:ext cx="868680" cy="182880"/>
          </a:xfrm>
          <a:prstGeom prst="line">
            <a:avLst/>
          </a:prstGeom>
          <a:ln w="15875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17920" y="2514600"/>
            <a:ext cx="1188720" cy="502920"/>
          </a:xfrm>
          <a:prstGeom prst="line">
            <a:avLst/>
          </a:prstGeom>
          <a:ln w="15875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246120" y="1691640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3886200" y="1645920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6" name="Oval 65"/>
          <p:cNvSpPr/>
          <p:nvPr/>
        </p:nvSpPr>
        <p:spPr>
          <a:xfrm>
            <a:off x="5303520" y="1600200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0" y="1572768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Oval 67"/>
          <p:cNvSpPr/>
          <p:nvPr/>
        </p:nvSpPr>
        <p:spPr>
          <a:xfrm>
            <a:off x="7315200" y="2697480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Oval 68"/>
          <p:cNvSpPr/>
          <p:nvPr/>
        </p:nvSpPr>
        <p:spPr>
          <a:xfrm>
            <a:off x="5029200" y="2395728"/>
            <a:ext cx="201168" cy="2011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383280" y="3840480"/>
            <a:ext cx="365759" cy="0"/>
          </a:xfrm>
          <a:prstGeom prst="line">
            <a:avLst/>
          </a:prstGeom>
          <a:ln w="25400">
            <a:solidFill>
              <a:srgbClr val="1F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794760" y="376732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6191D"/>
                </a:solidFill>
                <a:latin typeface="Calibri"/>
              </a:rPr>
              <a:t>message path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800600" y="3840480"/>
            <a:ext cx="365760" cy="0"/>
          </a:xfrm>
          <a:prstGeom prst="line">
            <a:avLst/>
          </a:prstGeom>
          <a:ln w="19050">
            <a:solidFill>
              <a:srgbClr val="2E8B57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212080" y="37673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6191D"/>
                </a:solidFill>
                <a:latin typeface="Calibri"/>
              </a:rPr>
              <a:t>ACK return path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355080" y="3840480"/>
            <a:ext cx="365760" cy="0"/>
          </a:xfrm>
          <a:prstGeom prst="line">
            <a:avLst/>
          </a:prstGeom>
          <a:ln w="15875">
            <a:solidFill>
              <a:srgbClr val="8A939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766560" y="37673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16191D"/>
                </a:solidFill>
                <a:latin typeface="Calibri"/>
              </a:rPr>
              <a:t>alternative route if Relay 2 fails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3995928"/>
            <a:ext cx="539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E07B1A"/>
                </a:solidFill>
                <a:latin typeface="Calibri"/>
              </a:rPr>
              <a:t>①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survivor reaches node  </a:t>
            </a:r>
            <a:r>
              <a:rPr sz="819" b="1" i="0">
                <a:solidFill>
                  <a:srgbClr val="E07B1A"/>
                </a:solidFill>
                <a:latin typeface="Calibri"/>
              </a:rPr>
              <a:t>②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picks message, node builds packet  </a:t>
            </a:r>
            <a:r>
              <a:rPr sz="819" b="1" i="0">
                <a:solidFill>
                  <a:srgbClr val="E07B1A"/>
                </a:solidFill>
                <a:latin typeface="Calibri"/>
              </a:rPr>
              <a:t>③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relays forward toward station  </a:t>
            </a:r>
            <a:r>
              <a:rPr sz="819" b="1" i="0">
                <a:solidFill>
                  <a:srgbClr val="E07B1A"/>
                </a:solidFill>
                <a:latin typeface="Calibri"/>
              </a:rPr>
              <a:t>④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station decodes &amp; ACKs  </a:t>
            </a:r>
            <a:r>
              <a:rPr sz="819" b="1" i="0">
                <a:solidFill>
                  <a:srgbClr val="E07B1A"/>
                </a:solidFill>
                <a:latin typeface="Calibri"/>
              </a:rPr>
              <a:t>⑤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dashboard shows request + location  </a:t>
            </a:r>
            <a:r>
              <a:rPr sz="819" b="1" i="0">
                <a:solidFill>
                  <a:srgbClr val="E07B1A"/>
                </a:solidFill>
                <a:latin typeface="Calibri"/>
              </a:rPr>
              <a:t>⑥</a:t>
            </a:r>
            <a:r>
              <a:rPr sz="819" b="0" i="0">
                <a:solidFill>
                  <a:srgbClr val="16191D"/>
                </a:solidFill>
                <a:latin typeface="Calibri"/>
              </a:rPr>
              <a:t> ACK returns → green LED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0040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Disaster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922776" y="4901184"/>
            <a:ext cx="91439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02336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SOS node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745736" y="4901184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484632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Packet
(21 B)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568696" y="4901184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566928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Relay hops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391656" y="4901184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649224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214616" y="4901184"/>
            <a:ext cx="91439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731520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037575" y="4901184"/>
            <a:ext cx="91441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138160" y="4681728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ACK back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0" y="519379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55D66"/>
                </a:solidFill>
                <a:latin typeface="Calibri"/>
              </a:rPr>
              <a:t>Optional path: phone → node Wi-Fi hotspot → local web form → same LoRa packet (custom text ≤ 40 B).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13716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KEY FEATURES</a:t>
            </a:r>
          </a:p>
        </p:txBody>
      </p:sp>
      <p:sp>
        <p:nvSpPr>
          <p:cNvPr id="92" name="Oval 91"/>
          <p:cNvSpPr/>
          <p:nvPr/>
        </p:nvSpPr>
        <p:spPr>
          <a:xfrm>
            <a:off x="9144000" y="1627632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◎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28048" y="16002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Infrastructure-independent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28048" y="180136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local radio only; no cellular, internet or cloud</a:t>
            </a:r>
          </a:p>
        </p:txBody>
      </p:sp>
      <p:sp>
        <p:nvSpPr>
          <p:cNvPr id="95" name="Oval 94"/>
          <p:cNvSpPr/>
          <p:nvPr/>
        </p:nvSpPr>
        <p:spPr>
          <a:xfrm>
            <a:off x="9144000" y="2112264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▤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28048" y="208483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Structured SOS menus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28048" y="22860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pre-loaded categories, yes/no and counts</a:t>
            </a:r>
          </a:p>
        </p:txBody>
      </p:sp>
      <p:sp>
        <p:nvSpPr>
          <p:cNvPr id="98" name="Oval 97"/>
          <p:cNvSpPr/>
          <p:nvPr/>
        </p:nvSpPr>
        <p:spPr>
          <a:xfrm>
            <a:off x="9144000" y="2596896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28048" y="256946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Multi-hop forwarding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28048" y="2770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relays carry packets beyond one radio link</a:t>
            </a:r>
          </a:p>
        </p:txBody>
      </p:sp>
      <p:sp>
        <p:nvSpPr>
          <p:cNvPr id="101" name="Oval 100"/>
          <p:cNvSpPr/>
          <p:nvPr/>
        </p:nvSpPr>
        <p:spPr>
          <a:xfrm>
            <a:off x="9144000" y="3081528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Wi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28048" y="305409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Phone-to-node Wi-Fi (opt.)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28048" y="3255264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local web form for short custom text</a:t>
            </a:r>
          </a:p>
        </p:txBody>
      </p:sp>
      <p:sp>
        <p:nvSpPr>
          <p:cNvPr id="104" name="Oval 103"/>
          <p:cNvSpPr/>
          <p:nvPr/>
        </p:nvSpPr>
        <p:spPr>
          <a:xfrm>
            <a:off x="9144000" y="3566160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⌖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28048" y="353872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Location-linked reports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28048" y="373989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node GPS or surveyed fixed-node location, labelled</a:t>
            </a:r>
          </a:p>
        </p:txBody>
      </p:sp>
      <p:sp>
        <p:nvSpPr>
          <p:cNvPr id="107" name="Oval 106"/>
          <p:cNvSpPr/>
          <p:nvPr/>
        </p:nvSpPr>
        <p:spPr>
          <a:xfrm>
            <a:off x="9144000" y="4050792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28048" y="40233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Two-way acknowledgement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28048" y="422452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orange = sent · green = delivered</a:t>
            </a:r>
          </a:p>
        </p:txBody>
      </p:sp>
      <p:sp>
        <p:nvSpPr>
          <p:cNvPr id="110" name="Oval 109"/>
          <p:cNvSpPr/>
          <p:nvPr/>
        </p:nvSpPr>
        <p:spPr>
          <a:xfrm>
            <a:off x="9144000" y="4535424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▲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28048" y="450799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Priority, congestion-aware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28048" y="47091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P0 rescue first; dedup, hop limit, backoff</a:t>
            </a:r>
          </a:p>
        </p:txBody>
      </p:sp>
      <p:sp>
        <p:nvSpPr>
          <p:cNvPr id="113" name="Oval 112"/>
          <p:cNvSpPr/>
          <p:nvPr/>
        </p:nvSpPr>
        <p:spPr>
          <a:xfrm>
            <a:off x="9144000" y="5020056"/>
            <a:ext cx="274320" cy="274320"/>
          </a:xfrm>
          <a:prstGeom prst="ellipse">
            <a:avLst/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1F5F6B"/>
                </a:solidFill>
                <a:latin typeface="Calibri"/>
              </a:rPr>
              <a:t>↻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28048" y="499262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libri"/>
              </a:rPr>
              <a:t>Store-and-forward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28048" y="519379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buffer with expiry during link outages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" y="5596128"/>
            <a:ext cx="11365992" cy="86868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6928" y="56692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E07B1A"/>
                </a:solidFill>
                <a:latin typeface="Consolas"/>
              </a:rPr>
              <a:t>WHY WE STAND OUT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587044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6191D"/>
                </a:solidFill>
                <a:latin typeface="Calibri"/>
              </a:rPr>
              <a:t>LoRa itself isn't the novelty. The value is the </a:t>
            </a:r>
            <a:r>
              <a:rPr sz="950" b="1" i="0">
                <a:solidFill>
                  <a:srgbClr val="16191D"/>
                </a:solidFill>
                <a:latin typeface="Calibri"/>
              </a:rPr>
              <a:t>integration</a:t>
            </a:r>
            <a:r>
              <a:rPr sz="950" b="0" i="0">
                <a:solidFill>
                  <a:srgbClr val="16191D"/>
                </a:solidFill>
                <a:latin typeface="Calibri"/>
              </a:rPr>
              <a:t>: accessible public SOS points + one-touch structured requests that fit in ~21 bytes + a forwarding protocol we implement ourselves (</a:t>
            </a:r>
            <a:r>
              <a:rPr sz="950" b="1" i="0">
                <a:solidFill>
                  <a:srgbClr val="16191D"/>
                </a:solidFill>
                <a:latin typeface="Calibri"/>
              </a:rPr>
              <a:t>distance-gradient forwarding, duplicate suppression, hop limits, priority queues, bounded retries</a:t>
            </a:r>
            <a:r>
              <a:rPr sz="950" b="0" i="0">
                <a:solidFill>
                  <a:srgbClr val="16191D"/>
                </a:solidFill>
                <a:latin typeface="Calibri"/>
              </a:rPr>
              <a:t>) + </a:t>
            </a:r>
            <a:r>
              <a:rPr sz="950" b="1" i="0">
                <a:solidFill>
                  <a:srgbClr val="16191D"/>
                </a:solidFill>
                <a:latin typeface="Calibri"/>
              </a:rPr>
              <a:t>end-to-end acknowledgements</a:t>
            </a:r>
            <a:r>
              <a:rPr sz="950" b="0" i="0">
                <a:solidFill>
                  <a:srgbClr val="16191D"/>
                </a:solidFill>
                <a:latin typeface="Calibri"/>
              </a:rPr>
              <a:t> that tell a survivor their message actually arrived, with explicit, honest location labels.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03 · VOID-NAV · TECH HORIZON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91D"/>
                </a:solidFill>
                <a:latin typeface="Cambria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5D66"/>
                </a:solidFill>
                <a:latin typeface="Cambria"/>
              </a:rPr>
              <a:t>How a request is created, carried across a congested shared channel, and confirmed back to the survivor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429000" cy="406908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" y="1371600"/>
            <a:ext cx="274320" cy="274320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Alert, access &amp;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80">
                <a:solidFill>
                  <a:srgbClr val="555D66"/>
                </a:solidFill>
                <a:latin typeface="Consolas"/>
              </a:rPr>
              <a:t>PROPOSED ALERT INTEGRATION (NOT CONNECTED)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1874519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00" b="1" i="0">
                <a:solidFill>
                  <a:srgbClr val="16191D"/>
                </a:solidFill>
                <a:latin typeface="Calibri"/>
              </a:rPr>
              <a:t>Disaster
declared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43584" y="2093976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44168" y="1874519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00" b="1" i="0">
                <a:solidFill>
                  <a:srgbClr val="16191D"/>
                </a:solidFill>
                <a:latin typeface="Calibri"/>
              </a:rPr>
              <a:t>Authorised
warning*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66544" y="2093976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67128" y="1874519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00" b="1" i="0">
                <a:solidFill>
                  <a:srgbClr val="16191D"/>
                </a:solidFill>
                <a:latin typeface="Calibri"/>
              </a:rPr>
              <a:t>SOS node
map shared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2093976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0088" y="1874519"/>
            <a:ext cx="713232" cy="438912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00" b="1" i="0">
                <a:solidFill>
                  <a:srgbClr val="16191D"/>
                </a:solidFill>
                <a:latin typeface="Calibri"/>
              </a:rPr>
              <a:t>Survivor
reaches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40864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*e.g. via an authorised CAP-based channel such as NDMA SACHET; proposed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7860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80">
                <a:solidFill>
                  <a:srgbClr val="555D66"/>
                </a:solidFill>
                <a:latin typeface="Consolas"/>
              </a:rPr>
              <a:t>NODE MENU · URGENT FIRST, ≤ 4 PRESSES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2761488"/>
            <a:ext cx="1554480" cy="64008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l"/>
            <a:r>
              <a:rPr sz="680" b="1" i="0">
                <a:solidFill>
                  <a:srgbClr val="E07B1A"/>
                </a:solidFill>
                <a:latin typeface="Consolas"/>
              </a:rPr>
              <a:t>1 · CATEGORY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▶ Rescue now (P0)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Injured/medical (P0)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Trapped (P0)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More 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2761488"/>
            <a:ext cx="1554480" cy="64008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l"/>
            <a:r>
              <a:rPr sz="680" b="1" i="0">
                <a:solidFill>
                  <a:srgbClr val="E07B1A"/>
                </a:solidFill>
                <a:latin typeface="Consolas"/>
              </a:rPr>
              <a:t>2 · INJURED?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▶ Yes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3474720"/>
            <a:ext cx="1554480" cy="64008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l"/>
            <a:r>
              <a:rPr sz="680" b="1" i="0">
                <a:solidFill>
                  <a:srgbClr val="E07B1A"/>
                </a:solidFill>
                <a:latin typeface="Consolas"/>
              </a:rPr>
              <a:t>3 · PEOPLE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1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▶ 2–5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  6+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7128" y="3474720"/>
            <a:ext cx="1554480" cy="64008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l"/>
            <a:r>
              <a:rPr sz="680" b="1" i="0">
                <a:solidFill>
                  <a:srgbClr val="E07B1A"/>
                </a:solidFill>
                <a:latin typeface="Consolas"/>
              </a:rPr>
              <a:t>4 · CONFIRM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Rescue · injured · 2–5</a:t>
            </a:r>
          </a:p>
          <a:p>
            <a:pPr algn="l"/>
            <a:r>
              <a:rPr sz="680" b="0" i="0">
                <a:solidFill>
                  <a:srgbClr val="FFFFFF"/>
                </a:solidFill>
                <a:latin typeface="Consolas"/>
              </a:rPr>
              <a:t>▶ SEND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80">
                <a:solidFill>
                  <a:srgbClr val="555D66"/>
                </a:solidFill>
                <a:latin typeface="Consolas"/>
              </a:rPr>
              <a:t>PACKET BUILT ON NODE · 21 BYTES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4389120"/>
            <a:ext cx="143255" cy="274320"/>
          </a:xfrm>
          <a:prstGeom prst="rect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608" y="4389120"/>
            <a:ext cx="600456" cy="274320"/>
          </a:xfrm>
          <a:prstGeom prst="rect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msg_id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608" y="4681728"/>
            <a:ext cx="609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3208" y="4389120"/>
            <a:ext cx="295656" cy="274320"/>
          </a:xfrm>
          <a:prstGeom prst="rect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3208" y="4681728"/>
            <a:ext cx="304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8008" y="4389120"/>
            <a:ext cx="143255" cy="274320"/>
          </a:xfrm>
          <a:prstGeom prst="rect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8008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40408" y="4389120"/>
            <a:ext cx="143255" cy="274320"/>
          </a:xfrm>
          <a:prstGeom prst="rect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0408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7" y="4389120"/>
            <a:ext cx="143255" cy="274320"/>
          </a:xfrm>
          <a:prstGeom prst="rect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7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45207" y="4389120"/>
            <a:ext cx="143255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5207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7607" y="4389120"/>
            <a:ext cx="143255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7607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50007" y="4389120"/>
            <a:ext cx="143255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0007" y="4681728"/>
            <a:ext cx="152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2407" y="4389120"/>
            <a:ext cx="1210056" cy="27432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location + label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2407" y="4681728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55D66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09744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555D66"/>
                </a:solidFill>
                <a:latin typeface="Calibri"/>
              </a:rPr>
              <a:t>T type · P priority+hops left · d distance-to-station · a age · c category · n people · f flags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5604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6191D"/>
                </a:solidFill>
                <a:latin typeface="Calibri"/>
              </a:rPr>
              <a:t>Location is labelled: </a:t>
            </a:r>
            <a:r>
              <a:rPr sz="680" b="0" i="0">
                <a:solidFill>
                  <a:srgbClr val="16191D"/>
                </a:solidFill>
                <a:latin typeface="Calibri"/>
              </a:rPr>
              <a:t>STATION (surveyed coords of a fixed public node) or NODE-GPS (portable node). Not the survivor's exact position. Phone form adds a landmark; browser geolocation needs HTTPS, so it isn't assumed.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39" y="1280160"/>
            <a:ext cx="4434840" cy="406908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087368" y="1371600"/>
            <a:ext cx="274320" cy="274320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137160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Controlled message transport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87368" y="1691640"/>
            <a:ext cx="1024128" cy="310896"/>
          </a:xfrm>
          <a:prstGeom prst="roundRect">
            <a:avLst>
              <a:gd name="adj" fmla="val 15000"/>
            </a:avLst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60" b="1" i="0">
                <a:solidFill>
                  <a:srgbClr val="FFFFFF"/>
                </a:solidFill>
                <a:latin typeface="Calibri"/>
              </a:rPr>
              <a:t>App: menu · queues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66359" y="1691640"/>
            <a:ext cx="1024128" cy="310896"/>
          </a:xfrm>
          <a:prstGeom prst="roundRect">
            <a:avLst>
              <a:gd name="adj" fmla="val 15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60" b="1" i="0">
                <a:solidFill>
                  <a:srgbClr val="FFFFFF"/>
                </a:solidFill>
                <a:latin typeface="Calibri"/>
              </a:rPr>
              <a:t>VOID-NAV protocol (ours)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45352" y="1691640"/>
            <a:ext cx="1024128" cy="310896"/>
          </a:xfrm>
          <a:prstGeom prst="roundRect">
            <a:avLst>
              <a:gd name="adj" fmla="val 15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60" b="1" i="0">
                <a:solidFill>
                  <a:srgbClr val="FFFFFF"/>
                </a:solidFill>
                <a:latin typeface="Calibri"/>
              </a:rPr>
              <a:t>RadioLib driver · CAD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24344" y="1691640"/>
            <a:ext cx="1024128" cy="310896"/>
          </a:xfrm>
          <a:prstGeom prst="roundRect">
            <a:avLst>
              <a:gd name="adj" fmla="val 15000"/>
            </a:avLst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60" b="1" i="0">
                <a:solidFill>
                  <a:srgbClr val="FFFFFF"/>
                </a:solidFill>
                <a:latin typeface="Calibri"/>
              </a:rPr>
              <a:t>SX127x LoRa · 865–867 MHz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87368" y="212140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① RX packet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93207" y="256032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087368" y="262432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② Valid?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CRC (radio) · version · length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41848" y="255117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drop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93207" y="306324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087368" y="312724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③ Seen msg_id?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dedup table: 128 IDs, 15 min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41848" y="30540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drop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093207" y="356616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087368" y="363016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④ Hops left &amp; age &lt; TTL?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hop limit 4 (open decision 3–5)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41848" y="3557015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drop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93207" y="4069079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087368" y="4133087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⑤ Addressed to me?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yes → deliver + ACK · no → 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41848" y="4059935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59" y="212140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⑥ Gradient rule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forward only if my_dist &lt; sender_dist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63840" y="2048255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silent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15200" y="256032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309359" y="262432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⑦ Enqueue by priority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P0→P3 · ages +1 class / 60 s · cap 32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63840" y="255117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evict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315200" y="306324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309359" y="312724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⑧ CAD + random backoff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window by priority; cancel if overheard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63840" y="30540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20" b="1" i="0">
                <a:solidFill>
                  <a:srgbClr val="FFFFFF"/>
                </a:solidFill>
                <a:latin typeface="Calibri"/>
              </a:rPr>
              <a:t>cancel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315200" y="3566160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309359" y="3630168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⑨ Transmit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hops−1, dist = my_dist, age++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315200" y="4069079"/>
            <a:ext cx="0" cy="64008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309359" y="4133087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780" b="1" i="0">
                <a:solidFill>
                  <a:srgbClr val="16191D"/>
                </a:solidFill>
                <a:latin typeface="Calibri"/>
              </a:rPr>
              <a:t>⑩ Await echo / ACK</a:t>
            </a:r>
          </a:p>
          <a:p>
            <a:pPr algn="ctr"/>
            <a:r>
              <a:rPr sz="650" b="0" i="0">
                <a:solidFill>
                  <a:srgbClr val="555D66"/>
                </a:solidFill>
                <a:latin typeface="Calibri"/>
              </a:rPr>
              <a:t>bounded retry (originator)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99048" y="4425696"/>
            <a:ext cx="100583" cy="0"/>
          </a:xfrm>
          <a:prstGeom prst="line">
            <a:avLst/>
          </a:prstGeom>
          <a:ln w="1270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199631" y="2340864"/>
            <a:ext cx="0" cy="2084832"/>
          </a:xfrm>
          <a:prstGeom prst="line">
            <a:avLst/>
          </a:prstGeom>
          <a:ln w="1270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199631" y="2340864"/>
            <a:ext cx="109728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4087368" y="4681728"/>
          <a:ext cx="420624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600200"/>
                <a:gridCol w="777240"/>
                <a:gridCol w="685800"/>
                <a:gridCol w="822960"/>
              </a:tblGrid>
              <a:tr h="128016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36576" marR="36576" marT="4572" marB="4572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Priority class</a:t>
                      </a:r>
                    </a:p>
                  </a:txBody>
                  <a:tcPr marL="36576" marR="36576" marT="4572" marB="4572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Backoff win.</a:t>
                      </a:r>
                    </a:p>
                  </a:txBody>
                  <a:tcPr marL="36576" marR="36576" marT="4572" marB="4572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TTL</a:t>
                      </a:r>
                    </a:p>
                  </a:txBody>
                  <a:tcPr marL="36576" marR="36576" marT="4572" marB="4572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Retries</a:t>
                      </a:r>
                    </a:p>
                  </a:txBody>
                  <a:tcPr marL="36576" marR="36576" marT="4572" marB="4572">
                    <a:solidFill>
                      <a:srgbClr val="16191D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 marL="36576" marR="36576" marT="4572" marB="4572">
                    <a:solidFill>
                      <a:srgbClr val="B55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Rescue · trapped · medical</a:t>
                      </a:r>
                    </a:p>
                  </a:txBody>
                  <a:tcPr marL="36576" marR="36576" marT="4572" marB="4572"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0–150 ms</a:t>
                      </a:r>
                    </a:p>
                  </a:txBody>
                  <a:tcPr marL="36576" marR="36576" marT="4572" marB="4572"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36576" marR="36576" marT="4572" marB="4572"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4572" marB="4572">
                    <a:solidFill>
                      <a:srgbClr val="FDF1E6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36576" marR="36576" marT="4572" marB="4572">
                    <a:solidFill>
                      <a:srgbClr val="E07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Child/elder · report other</a:t>
                      </a:r>
                    </a:p>
                  </a:txBody>
                  <a:tcPr marL="36576" marR="36576" marT="4572" marB="457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0–300 ms</a:t>
                      </a:r>
                    </a:p>
                  </a:txBody>
                  <a:tcPr marL="36576" marR="36576" marT="4572" marB="457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36576" marR="36576" marT="4572" marB="457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4572" marB="4572">
                    <a:solidFill>
                      <a:srgbClr val="E6F0F1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36576" marR="36576" marT="4572" marB="4572">
                    <a:solidFill>
                      <a:srgbClr val="1F5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Food · water</a:t>
                      </a:r>
                    </a:p>
                  </a:txBody>
                  <a:tcPr marL="36576" marR="36576" marT="4572" marB="4572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0–600 ms</a:t>
                      </a:r>
                    </a:p>
                  </a:txBody>
                  <a:tcPr marL="36576" marR="36576" marT="4572" marB="4572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 marL="36576" marR="36576" marT="4572" marB="4572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4572" marB="4572">
                    <a:solidFill>
                      <a:srgbClr val="F3F5F6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36576" marR="36576" marT="4572" marB="4572">
                    <a:solidFill>
                      <a:srgbClr val="8A93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Safe · family (≤ 1 per 30 s/node)</a:t>
                      </a:r>
                    </a:p>
                  </a:txBody>
                  <a:tcPr marL="36576" marR="36576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0–1.2 s</a:t>
                      </a:r>
                    </a:p>
                  </a:txBody>
                  <a:tcPr marL="36576" marR="36576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 marL="36576" marR="36576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0">
                          <a:solidFill>
                            <a:srgbClr val="1619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Rectangle 80"/>
          <p:cNvSpPr/>
          <p:nvPr/>
        </p:nvSpPr>
        <p:spPr>
          <a:xfrm>
            <a:off x="8549640" y="1280160"/>
            <a:ext cx="3227832" cy="406908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659367" y="1371600"/>
            <a:ext cx="274320" cy="274320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1371600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Destination &amp; confirmation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59367" y="1691640"/>
            <a:ext cx="1874519" cy="274320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80" b="1" i="0">
                <a:solidFill>
                  <a:srgbClr val="16191D"/>
                </a:solidFill>
                <a:latin typeface="Calibri"/>
              </a:rPr>
              <a:t>RX at receiving station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601200" y="1965960"/>
            <a:ext cx="0" cy="73152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8659367" y="2039112"/>
            <a:ext cx="1874519" cy="274320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80" b="1" i="0">
                <a:solidFill>
                  <a:srgbClr val="16191D"/>
                </a:solidFill>
                <a:latin typeface="Calibri"/>
              </a:rPr>
              <a:t>Dedup + decode category, n, flags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601200" y="2313432"/>
            <a:ext cx="0" cy="73152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8659367" y="2386584"/>
            <a:ext cx="1874519" cy="274320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80" b="1" i="0">
                <a:solidFill>
                  <a:srgbClr val="16191D"/>
                </a:solidFill>
                <a:latin typeface="Calibri"/>
              </a:rPr>
              <a:t>Show location + label on map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601200" y="2660904"/>
            <a:ext cx="0" cy="73152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8659367" y="2734056"/>
            <a:ext cx="1874519" cy="274320"/>
          </a:xfrm>
          <a:prstGeom prst="roundRect">
            <a:avLst>
              <a:gd name="adj" fmla="val 2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80" b="1" i="0">
                <a:solidFill>
                  <a:srgbClr val="16191D"/>
                </a:solidFill>
                <a:latin typeface="Calibri"/>
              </a:rPr>
              <a:t>Rank by priority, alert operator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601200" y="3008376"/>
            <a:ext cx="0" cy="73152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8659367" y="3081528"/>
            <a:ext cx="1874519" cy="274320"/>
          </a:xfrm>
          <a:prstGeom prst="roundRect">
            <a:avLst>
              <a:gd name="adj" fmla="val 2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80" b="1" i="0">
                <a:solidFill>
                  <a:srgbClr val="16191D"/>
                </a:solidFill>
                <a:latin typeface="Calibri"/>
              </a:rPr>
              <a:t>ACK(msg_id) back to origin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25328" y="1691640"/>
            <a:ext cx="10515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52759" y="171907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 i="0">
                <a:solidFill>
                  <a:srgbClr val="16191D"/>
                </a:solidFill>
                <a:latin typeface="Calibri"/>
              </a:rPr>
              <a:t>Ops dashboard</a:t>
            </a:r>
          </a:p>
        </p:txBody>
      </p:sp>
      <p:sp>
        <p:nvSpPr>
          <p:cNvPr id="95" name="Oval 94"/>
          <p:cNvSpPr/>
          <p:nvPr/>
        </p:nvSpPr>
        <p:spPr>
          <a:xfrm>
            <a:off x="10680192" y="1947672"/>
            <a:ext cx="109728" cy="109728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35640" y="1929384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0" i="0">
                <a:solidFill>
                  <a:srgbClr val="16191D"/>
                </a:solidFill>
                <a:latin typeface="Calibri"/>
              </a:rPr>
              <a:t>P0 · 2–5 · inj.</a:t>
            </a:r>
          </a:p>
        </p:txBody>
      </p:sp>
      <p:sp>
        <p:nvSpPr>
          <p:cNvPr id="97" name="Oval 96"/>
          <p:cNvSpPr/>
          <p:nvPr/>
        </p:nvSpPr>
        <p:spPr>
          <a:xfrm>
            <a:off x="10680192" y="2176272"/>
            <a:ext cx="109728" cy="109728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35640" y="2157984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0" i="0">
                <a:solidFill>
                  <a:srgbClr val="16191D"/>
                </a:solidFill>
                <a:latin typeface="Calibri"/>
              </a:rPr>
              <a:t>P0 · 1 · trapped</a:t>
            </a:r>
          </a:p>
        </p:txBody>
      </p:sp>
      <p:sp>
        <p:nvSpPr>
          <p:cNvPr id="99" name="Oval 98"/>
          <p:cNvSpPr/>
          <p:nvPr/>
        </p:nvSpPr>
        <p:spPr>
          <a:xfrm>
            <a:off x="10680192" y="2404872"/>
            <a:ext cx="109728" cy="10972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35640" y="2386584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0" i="0">
                <a:solidFill>
                  <a:srgbClr val="16191D"/>
                </a:solidFill>
                <a:latin typeface="Calibri"/>
              </a:rPr>
              <a:t>P1 · elder</a:t>
            </a:r>
          </a:p>
        </p:txBody>
      </p:sp>
      <p:sp>
        <p:nvSpPr>
          <p:cNvPr id="101" name="Oval 100"/>
          <p:cNvSpPr/>
          <p:nvPr/>
        </p:nvSpPr>
        <p:spPr>
          <a:xfrm>
            <a:off x="10680192" y="2633472"/>
            <a:ext cx="109728" cy="109728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35640" y="2615184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0" i="0">
                <a:solidFill>
                  <a:srgbClr val="16191D"/>
                </a:solidFill>
                <a:latin typeface="Calibri"/>
              </a:rPr>
              <a:t>P2 · water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52759" y="2880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55D66"/>
                </a:solidFill>
                <a:latin typeface="Calibri"/>
              </a:rPr>
              <a:t>loc: STATION
#GP-07 (surveyed)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59367" y="345643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16191D"/>
                </a:solidFill>
                <a:latin typeface="Calibri"/>
              </a:rPr>
              <a:t>Reverse-path ACK: </a:t>
            </a:r>
            <a:r>
              <a:rPr sz="700" b="0" i="0">
                <a:solidFill>
                  <a:srgbClr val="16191D"/>
                </a:solidFill>
                <a:latin typeface="Calibri"/>
              </a:rPr>
              <a:t>each relay caches msg_id → previous hop when forwarding; the ACK retraces that path hop by hop. If a hop is gone, the ACK falls back to gradient forwarding (same rules).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0" y="40050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 spc="180">
                <a:solidFill>
                  <a:srgbClr val="555D66"/>
                </a:solidFill>
                <a:latin typeface="Consolas"/>
              </a:rPr>
              <a:t>ORIGINATING-NODE LED STATES</a:t>
            </a:r>
          </a:p>
        </p:txBody>
      </p:sp>
      <p:sp>
        <p:nvSpPr>
          <p:cNvPr id="106" name="Oval 105"/>
          <p:cNvSpPr/>
          <p:nvPr/>
        </p:nvSpPr>
        <p:spPr>
          <a:xfrm>
            <a:off x="8869680" y="4206240"/>
            <a:ext cx="256032" cy="256032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68512" y="449884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6191D"/>
                </a:solidFill>
                <a:latin typeface="Calibri"/>
              </a:rPr>
              <a:t>Sent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41080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55D66"/>
                </a:solidFill>
                <a:latin typeface="Calibri"/>
              </a:rPr>
              <a:t>TX done
≠ delivered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162288" y="4334256"/>
            <a:ext cx="274320" cy="0"/>
          </a:xfrm>
          <a:prstGeom prst="line">
            <a:avLst/>
          </a:prstGeom>
          <a:ln w="1270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9628632" y="4206240"/>
            <a:ext cx="256032" cy="256032"/>
          </a:xfrm>
          <a:prstGeom prst="ellipse">
            <a:avLst/>
          </a:prstGeom>
          <a:solidFill>
            <a:srgbClr val="E07B1A"/>
          </a:solidFill>
          <a:ln w="12700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27464" y="449884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6191D"/>
                </a:solidFill>
                <a:latin typeface="Calibri"/>
              </a:rPr>
              <a:t>Retrying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00032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55D66"/>
                </a:solidFill>
                <a:latin typeface="Calibri"/>
              </a:rPr>
              <a:t>blink · k/5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921240" y="4334256"/>
            <a:ext cx="274320" cy="0"/>
          </a:xfrm>
          <a:prstGeom prst="line">
            <a:avLst/>
          </a:prstGeom>
          <a:ln w="1270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10387584" y="4206240"/>
            <a:ext cx="256032" cy="25603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86416" y="449884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6191D"/>
                </a:solidFill>
                <a:latin typeface="Calibri"/>
              </a:rPr>
              <a:t>ACK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58984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55D66"/>
                </a:solidFill>
                <a:latin typeface="Calibri"/>
              </a:rPr>
              <a:t>msg_id
matched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0680192" y="4334256"/>
            <a:ext cx="274320" cy="0"/>
          </a:xfrm>
          <a:prstGeom prst="line">
            <a:avLst/>
          </a:prstGeom>
          <a:ln w="1270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1146536" y="4206240"/>
            <a:ext cx="256032" cy="256032"/>
          </a:xfrm>
          <a:prstGeom prst="ellips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45368" y="449884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6191D"/>
                </a:solidFill>
                <a:latin typeface="Calibri"/>
              </a:rPr>
              <a:t>Dispatch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17936" y="4663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555D66"/>
                </a:solidFill>
                <a:latin typeface="Calibri"/>
              </a:rPr>
              <a:t>separate msg
→ screen text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0" y="502920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1">
                <a:solidFill>
                  <a:srgbClr val="B5532A"/>
                </a:solidFill>
                <a:latin typeface="Calibri"/>
              </a:rPr>
              <a:t>No ACK after final retry → orange off, screen: "Not confirmed. Retry or use next SOS point."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1480" y="5468112"/>
            <a:ext cx="11365992" cy="100584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5522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TECHNICAL STACK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Hardware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691640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1F5F6B"/>
                </a:solidFill>
                <a:latin typeface="Calibri"/>
              </a:rPr>
              <a:t>MVP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ESP32 dev board · SX1276-family LoRa module (865–867 MHz variant) · 128×64 OLED + 4 buttons · orange/green LEDs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423160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Radio config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566160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1F5F6B"/>
                </a:solidFill>
                <a:latin typeface="Calibri"/>
              </a:rPr>
              <a:t>MVP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23160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LoRa 125 kHz BW · SF9 baseline (SF7–10 to tune) · CR 4/5 · ≈185 ms per 21 B packet (calc.)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97679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Firmware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440679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E07B1A"/>
                </a:solidFill>
                <a:latin typeface="Calibri"/>
              </a:rPr>
              <a:t>MVP / opt.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97679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Arduino-ESP32 · RadioLib (CAD) · ESP32 SoftAP + local web form for phones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199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Messaging layer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315199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E07B1A"/>
                </a:solidFill>
                <a:latin typeface="Calibri"/>
              </a:rPr>
              <a:t>MVP core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72199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VOID-NAV protocol: msg_id, dedup, hop/TTL, gradient forwarding, P0–P3 queues, ACK + retries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46719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Location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189719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E07B1A"/>
                </a:solidFill>
                <a:latin typeface="Calibri"/>
              </a:rPr>
              <a:t>MVP / prop.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46719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surveyed coords for fixed nodes · GPS module (e.g. NEO-6M) on portable nodes · phone landmark text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21240" y="573328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Dashboard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064240" y="5733288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600" b="1" i="0">
                <a:solidFill>
                  <a:srgbClr val="1F5F6B"/>
                </a:solidFill>
                <a:latin typeface="Calibri"/>
              </a:rPr>
              <a:t>MVP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21240" y="59436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16191D"/>
                </a:solidFill>
                <a:latin typeface="Calibri"/>
              </a:rPr>
              <a:t>station node → USB serial → local Python web map with cached offline tiles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04 · VOID-NAV · TECH HORIZON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91D"/>
                </a:solidFill>
                <a:latin typeface="Cambria"/>
              </a:rPr>
              <a:t>Feasibility, Viability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5D66"/>
                </a:solidFill>
                <a:latin typeface="Cambria"/>
              </a:rPr>
              <a:t>Built incrementally on commodity ESP32 + LoRa hardware, with every risky assumption named and testable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5440680" cy="214884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7" y="1371600"/>
            <a:ext cx="274320" cy="274320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Why the system is feasible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7393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ESP32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3852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dual-core MCU with built-in Wi-Fi; mature Arduino/ESP-IDF toolchains</a:t>
            </a:r>
          </a:p>
        </p:txBody>
      </p:sp>
      <p:sp>
        <p:nvSpPr>
          <p:cNvPr id="11" name="Oval 10"/>
          <p:cNvSpPr/>
          <p:nvPr/>
        </p:nvSpPr>
        <p:spPr>
          <a:xfrm>
            <a:off x="3218688" y="177393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75564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LoRa modules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93852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SX127x-family modules with 865–867 MHz variants are sold in India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32257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30428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Local Wi-Fi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48716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ESP32 SoftAP + small web server serves a form with no internet</a:t>
            </a:r>
          </a:p>
        </p:txBody>
      </p:sp>
      <p:sp>
        <p:nvSpPr>
          <p:cNvPr id="17" name="Oval 16"/>
          <p:cNvSpPr/>
          <p:nvPr/>
        </p:nvSpPr>
        <p:spPr>
          <a:xfrm>
            <a:off x="3218688" y="232257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30428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Small structured payloads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48716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21 B request ≈ 185 ms airtime at SF9/125 kHz (formula-based)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287121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85292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Incremental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03580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each layer (link → relay → ACK → priority) testable on its own</a:t>
            </a:r>
          </a:p>
        </p:txBody>
      </p:sp>
      <p:sp>
        <p:nvSpPr>
          <p:cNvPr id="23" name="Oval 22"/>
          <p:cNvSpPr/>
          <p:nvPr/>
        </p:nvSpPr>
        <p:spPr>
          <a:xfrm>
            <a:off x="3218688" y="2871216"/>
            <a:ext cx="201168" cy="201168"/>
          </a:xfrm>
          <a:prstGeom prst="ellipse">
            <a:avLst/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85292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191D"/>
                </a:solidFill>
                <a:latin typeface="Calibri"/>
              </a:rPr>
              <a:t>No cloud, no cellular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03580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D66"/>
                </a:solidFill>
                <a:latin typeface="Calibri"/>
              </a:rPr>
              <a:t>the LoRa path is fully local; the dashboard runs on a laptop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280160"/>
            <a:ext cx="5788152" cy="214884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99048" y="1371600"/>
            <a:ext cx="274320" cy="274320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How we build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175564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72200" y="1828800"/>
            <a:ext cx="219456" cy="219456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181965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Point-to-point LoRa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2311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stable RX/TX, RSSI logged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82127" y="2121408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73567" y="175564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19" y="1828800"/>
            <a:ext cx="219456" cy="219456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181965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Packet format + unique msg_id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7" y="22311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21 B frames decode at station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56647" y="2121408"/>
            <a:ext cx="91441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48088" y="175564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21240" y="1828800"/>
            <a:ext cx="219456" cy="219456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181965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Relay forwarding + dedup + hop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9528" y="22311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3-hop chain, no duplicate storms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9048" y="257860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72200" y="2651760"/>
            <a:ext cx="219456" cy="21945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642615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Menu UI + LED states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0488" y="30540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request in ≤ 4 presses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82127" y="2944368"/>
            <a:ext cx="91440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973567" y="257860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46719" y="2651760"/>
            <a:ext cx="219456" cy="21945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642615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ACK return path, retries, priority queues + CAD backoff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7" y="30540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green LED on matched ACK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56647" y="2944368"/>
            <a:ext cx="91441" cy="0"/>
          </a:xfrm>
          <a:prstGeom prst="line">
            <a:avLst/>
          </a:prstGeom>
          <a:ln w="12700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848088" y="2578608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21240" y="2651760"/>
            <a:ext cx="219456" cy="219456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2642615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191D"/>
                </a:solidFill>
                <a:latin typeface="Calibri"/>
              </a:rPr>
              <a:t>Location + dashboard; load &amp; failure tests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9528" y="30540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1">
                <a:solidFill>
                  <a:srgbClr val="555D66"/>
                </a:solidFill>
                <a:latin typeface="Calibri"/>
              </a:rPr>
              <a:t>exit: metrics from slide 5 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547872"/>
            <a:ext cx="6766560" cy="292608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1207" y="3639312"/>
            <a:ext cx="274320" cy="274320"/>
          </a:xfrm>
          <a:prstGeom prst="ellipse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Risks &amp; mitigation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521207" y="3959352"/>
          <a:ext cx="6537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3703320"/>
              </a:tblGrid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45720" marT="13716" marB="13716">
                    <a:solidFill>
                      <a:srgbClr val="B55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45720" marR="45720" marT="13716" marB="13716">
                    <a:solidFill>
                      <a:srgbClr val="B55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45720" marR="45720" marT="13716" marB="13716">
                    <a:solidFill>
                      <a:srgbClr val="B5532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Simultaneous TX / collisions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lost packets; retries add load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CAD before TX, priority-scaled random backoff, cancel if overheard; collisions reduced, never eliminated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Relay congestion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queues fill, latency grows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gradient forwarding (not blind flooding), P3 rate limit, queue cap 32 with lowest-priority eviction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Lost ACKs → repeats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duplicate traffic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retries reuse msg_id → relays drop dups; station re-ACKs without re-alerting; capped retries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Relay or station offline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route breaks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another lower-distance relay forwards; store-and-forward until TTL; distance beacons refresh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Wrong / missing location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help sent to wrong place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explicit label: STATION / NODE-GPS / NONE; surveyed coords at install; GPS fix age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Limited bandwidth &amp; payload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text crowds out urgent traffic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21 B structured frames; custom text ≤ 40 B, single frame, no fragmentation in MVP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Forged / spam messages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false alarms, wasted airtime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node-ID allow-list + rate limits (MVP); message authentication with a network key (proposed)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Power failure at SOS site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node offline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battery + solar enclosure (proposed); relay sleep; battery level in beacons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Radio regulation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non-compliance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stay in 865–867 MHz exempt band, 125 kHz BW (&lt; 200 kHz); verify power limits in GSR 853(E)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Rectangle 60"/>
          <p:cNvSpPr/>
          <p:nvPr/>
        </p:nvSpPr>
        <p:spPr>
          <a:xfrm>
            <a:off x="7315200" y="3547872"/>
            <a:ext cx="4462272" cy="2926080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424927" y="3639312"/>
            <a:ext cx="274320" cy="27432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90688" y="36393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191D"/>
                </a:solidFill>
                <a:latin typeface="Cambria"/>
              </a:rPr>
              <a:t>Prototype vs deployment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7424927" y="3959352"/>
          <a:ext cx="4242816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61288"/>
                <a:gridCol w="1252728"/>
              </a:tblGrid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45720" marT="13716" marB="13716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Hackathon PoC</a:t>
                      </a:r>
                    </a:p>
                  </a:txBody>
                  <a:tcPr marL="45720" marR="45720" marT="13716" marB="13716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45720" marR="45720" marT="13716" marB="13716">
                    <a:solidFill>
                      <a:srgbClr val="16191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LoRa P2P + 3-hop relay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field test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Dedup, hop limit, gradient rule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tune at scale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Priority queues + CAD backoff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load test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End-to-end ACK + LEDs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field test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Phone Wi-Fi form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Fixed / GPS location label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survey all sites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Ops dashboard (offline)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planned demo</a:t>
                      </a:r>
                    </a:p>
                  </a:txBody>
                  <a:tcPr marL="45720" marR="45720" marT="13716" marB="13716"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multi-station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Solar enclosure, auth key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16191D"/>
                          </a:solidFill>
                          <a:latin typeface="Calibri"/>
                        </a:rPr>
                        <a:t>Public-warning integration</a:t>
                      </a:r>
                    </a:p>
                  </a:txBody>
                  <a:tcPr marL="45720" marR="45720" marT="13716" marB="13716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91D"/>
                          </a:solidFill>
                          <a:latin typeface="Calibri"/>
                        </a:rPr>
                        <a:t>proposed, needs partner</a:t>
                      </a:r>
                    </a:p>
                  </a:txBody>
                  <a:tcPr marL="45720" marR="45720" marT="13716" marB="13716"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7424927" y="5870448"/>
            <a:ext cx="4242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6191D"/>
                </a:solidFill>
                <a:latin typeface="Calibri"/>
              </a:rPr>
              <a:t>Status: </a:t>
            </a:r>
            <a:r>
              <a:rPr sz="680" b="0" i="0">
                <a:solidFill>
                  <a:srgbClr val="16191D"/>
                </a:solidFill>
                <a:latin typeface="Calibri"/>
              </a:rPr>
              <a:t>"planned demo" = target for our hackathon build, </a:t>
            </a:r>
            <a:r>
              <a:rPr sz="680" b="1" i="0">
                <a:solidFill>
                  <a:srgbClr val="16191D"/>
                </a:solidFill>
                <a:latin typeface="Calibri"/>
              </a:rPr>
              <a:t>[confirm before submission]</a:t>
            </a:r>
            <a:r>
              <a:rPr sz="680" b="0" i="0">
                <a:solidFill>
                  <a:srgbClr val="16191D"/>
                </a:solidFill>
                <a:latin typeface="Calibri"/>
              </a:rPr>
              <a:t>. Nothing above is claimed as already tested.</a:t>
            </a:r>
          </a:p>
          <a:p>
            <a:pPr algn="l">
              <a:spcAft>
                <a:spcPts val="200"/>
              </a:spcAft>
            </a:pPr>
            <a:r>
              <a:rPr sz="680" b="1" i="0">
                <a:solidFill>
                  <a:srgbClr val="16191D"/>
                </a:solidFill>
                <a:latin typeface="Calibri"/>
              </a:rPr>
              <a:t>BOM template: </a:t>
            </a:r>
            <a:r>
              <a:rPr sz="680" b="0" i="0">
                <a:solidFill>
                  <a:srgbClr val="16191D"/>
                </a:solidFill>
                <a:latin typeface="Calibri"/>
              </a:rPr>
              <a:t>ESP32 · LoRa module + antenna · OLED + 4 buttons · 2 LEDs · GPS (portable) · battery/solar · enclosure → unit costs [fill from supplier quotes].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05 · VOID-NAV · TECH HORIZON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91D"/>
                </a:solidFill>
                <a:latin typeface="Cambria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5D66"/>
                </a:solidFill>
                <a:latin typeface="Cambria"/>
              </a:rPr>
              <a:t>Keeping a usable emergency pathway open when conventional infrastructure is gone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2176272" cy="9601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" y="1371600"/>
            <a:ext cx="329184" cy="329184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38988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mbria"/>
              </a:rPr>
              <a:t>Survivors without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830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can request help from a nearby public SOS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280160"/>
            <a:ext cx="2176272" cy="9601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7208" y="1371600"/>
            <a:ext cx="329184" cy="329184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138988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mbria"/>
              </a:rPr>
              <a:t>Urgent medical / rescue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7830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P0 requests get first use of scarce airtime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280160"/>
            <a:ext cx="2176272" cy="9601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93208" y="1371600"/>
            <a:ext cx="329184" cy="329184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2" y="138988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mbria"/>
              </a:rPr>
              <a:t>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"I am safe" messages travel when calls cannot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280160"/>
            <a:ext cx="2176272" cy="9601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9208" y="1371600"/>
            <a:ext cx="329184" cy="329184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138988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mbria"/>
              </a:rPr>
              <a:t>Authorities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7830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one prioritised, location-labelled list of 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280160"/>
            <a:ext cx="2176272" cy="96012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65207" y="1371600"/>
            <a:ext cx="329184" cy="329184"/>
          </a:xfrm>
          <a:prstGeom prst="ellipse">
            <a:avLst/>
          </a:prstGeom>
          <a:solidFill>
            <a:srgbClr val="1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138988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6191D"/>
                </a:solidFill>
                <a:latin typeface="Cambria"/>
              </a:rPr>
              <a:t>Public facilities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7" y="17830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55D66"/>
                </a:solidFill>
                <a:latin typeface="Calibri"/>
              </a:rPr>
              <a:t>hospitals, panchayats, stations become comms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957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CAPABILITY → OPERATIONAL BENEFIT → INTENDED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606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5F6B"/>
                </a:solidFill>
                <a:latin typeface="Calibri"/>
              </a:rPr>
              <a:t>Capability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606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07B1A"/>
                </a:solidFill>
                <a:latin typeface="Calibri"/>
              </a:rPr>
              <a:t>Operational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606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E8B57"/>
                </a:solidFill>
                <a:latin typeface="Calibri"/>
              </a:rPr>
              <a:t>Intended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816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Pre-loaded structured messages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15768" y="30083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26080" y="2816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request in a few presses, no typing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30368" y="30083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40680" y="2816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help asked for even under stress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2735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Multi-hop relays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15768" y="34655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926080" y="32735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reach beyond one radio link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30368" y="34655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40680" y="32735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coverage across the affected area*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7307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Labelled location data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15768" y="39227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926080" y="37307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responder knows which site sent it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30368" y="39227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440680" y="37307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teams go to the right place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41879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End-to-end acknowledgements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15768" y="43799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926080" y="41879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survivor sees green when delivered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30368" y="43799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440680" y="41879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less panic-driven resending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6451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Priority handling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715768" y="48371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926080" y="46451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airtime goes to urgent cases first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230368" y="48371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440680" y="46451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critical requests surface first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102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1" i="0">
                <a:solidFill>
                  <a:srgbClr val="16191D"/>
                </a:solidFill>
                <a:latin typeface="Calibri"/>
              </a:rPr>
              <a:t>Store-and-forward + controlled relaying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715768" y="52943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926080" y="5102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survives short link outages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230368" y="5294376"/>
            <a:ext cx="192024" cy="0"/>
          </a:xfrm>
          <a:prstGeom prst="line">
            <a:avLst/>
          </a:prstGeom>
          <a:ln w="15240">
            <a:solidFill>
              <a:srgbClr val="8A93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440680" y="5102352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sz="800" b="0" i="0">
                <a:solidFill>
                  <a:srgbClr val="16191D"/>
                </a:solidFill>
                <a:latin typeface="Calibri"/>
              </a:rPr>
              <a:t>messages arrive late rather than never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55961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1">
                <a:solidFill>
                  <a:srgbClr val="555D66"/>
                </a:solidFill>
                <a:latin typeface="Calibri"/>
              </a:rPr>
              <a:t>*subject to radio range, terrain, relay placement and channel capacity, which must be measured on site.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1000" y="2395728"/>
            <a:ext cx="3776472" cy="3401568"/>
          </a:xfrm>
          <a:prstGeom prst="rect">
            <a:avLst/>
          </a:prstGeom>
          <a:noFill/>
          <a:ln w="12700">
            <a:solidFill>
              <a:srgbClr val="C9D0D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2487168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CAPACITY &amp; LATENCY (ESTIMATES)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269748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6191D"/>
                </a:solidFill>
                <a:latin typeface="Calibri"/>
              </a:rPr>
              <a:t>More relays ≠ more capacity. </a:t>
            </a:r>
            <a:r>
              <a:rPr sz="760" b="0" i="0">
                <a:solidFill>
                  <a:srgbClr val="16191D"/>
                </a:solidFill>
                <a:latin typeface="Calibri"/>
              </a:rPr>
              <a:t>Nodes in radio range share one channel. One P0 request over 3 hops plus its ACK uses ≈ 3×185 + 3×144 ≈ 1.0 s of airtime, so at a cautious 20–30 % channel load one shared channel carries roughly 12–18 such requests per minute. Scaling means more receiving stations and separate areas, not just more relays.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8138160" y="3547872"/>
          <a:ext cx="3520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005840"/>
              </a:tblGrid>
              <a:tr h="173736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Calibri"/>
                        </a:rPr>
                        <a:t>Per hop, P0 (SF9, 21 B)</a:t>
                      </a:r>
                    </a:p>
                  </a:txBody>
                  <a:tcPr marL="45720" marR="45720" marT="9144" marB="9144"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 marL="45720" marR="45720" marT="9144" marB="9144">
                    <a:solidFill>
                      <a:srgbClr val="16191D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CAD check (~2 symbols)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Random backoff (avg of 0–150)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75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Time on air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185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Processing / queue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10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3 hops forward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0.85 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ACK back, 3 hops (10 B)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0">
                          <a:solidFill>
                            <a:srgbClr val="16191D"/>
                          </a:solidFill>
                          <a:latin typeface="Calibri"/>
                        </a:rPr>
                        <a:t>≈ 0.7 s</a:t>
                      </a:r>
                    </a:p>
                  </a:txBody>
                  <a:tcPr marL="45720" marR="45720" marT="9144" marB="9144">
                    <a:solidFill>
                      <a:srgbClr val="F3F5F6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6191D"/>
                          </a:solidFill>
                          <a:latin typeface="Calibri"/>
                        </a:rPr>
                        <a:t>Round trip, idle channel</a:t>
                      </a:r>
                    </a:p>
                  </a:txBody>
                  <a:tcPr marL="45720" marR="45720" marT="9144" marB="9144"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16191D"/>
                          </a:solidFill>
                          <a:latin typeface="Calibri"/>
                        </a:rPr>
                        <a:t>≈ 1.6 s</a:t>
                      </a:r>
                    </a:p>
                  </a:txBody>
                  <a:tcPr marL="45720" marR="45720" marT="9144" marB="9144"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8138160" y="5074920"/>
            <a:ext cx="3520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E07B1A"/>
                </a:solidFill>
                <a:latin typeface="Calibri"/>
              </a:rPr>
              <a:t>Proposed targets (to measure): </a:t>
            </a:r>
            <a:r>
              <a:rPr sz="740" b="0" i="0">
                <a:solidFill>
                  <a:srgbClr val="16191D"/>
                </a:solidFill>
                <a:latin typeface="Calibri"/>
              </a:rPr>
              <a:t>P0 ACK ≤ 5 s at 3 hops · delivery ratio ≥ 95 % at test load · transmissions per delivered request ≤ hops + 2 · reported at 1, 5, 20 requests/min and with one relay removed.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870448"/>
            <a:ext cx="11365992" cy="594360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9161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07B1A"/>
                </a:solidFill>
                <a:latin typeface="Cambria"/>
              </a:rPr>
              <a:t>Intended outcome: </a:t>
            </a:r>
            <a:r>
              <a:rPr sz="1300" b="0" i="0">
                <a:solidFill>
                  <a:srgbClr val="FFFFFF"/>
                </a:solidFill>
                <a:latin typeface="Cambria"/>
              </a:rPr>
              <a:t>when towers and internet are gone, survivors still have a nearby place to ask for help, and responders still receive a prioritised, location-labelled list of who needs it.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180">
                <a:solidFill>
                  <a:srgbClr val="1F5F6B"/>
                </a:solidFill>
                <a:latin typeface="Consolas"/>
              </a:rPr>
              <a:t>06 · VOID-NAV · TECH HORIZON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191D"/>
                </a:solidFill>
                <a:latin typeface="Cambria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55D66"/>
                </a:solidFill>
                <a:latin typeface="Cambria"/>
              </a:rPr>
              <a:t>What published work establishes, how it shapes VOID-NAV, and what we still have to prove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98448"/>
          <a:ext cx="11365992" cy="445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846320"/>
                <a:gridCol w="3840480"/>
                <a:gridCol w="1353312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Established technique / finding (click to open)</a:t>
                      </a:r>
                    </a:p>
                  </a:txBody>
                  <a:tcPr marL="54864" marR="54864" marT="18288" marB="18288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How it informs our design</a:t>
                      </a:r>
                    </a:p>
                  </a:txBody>
                  <a:tcPr marL="54864" marR="54864" marT="18288" marB="18288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18288" marB="18288">
                    <a:solidFill>
                      <a:srgbClr val="16191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LoRa airtime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Semtech AN1200.13, LoRa Modem Designer's Guide: time-on-air formula; airtime rises with SF and payload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2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21 B structured frame; SF9 baseline ≈185 ms; custom text capped at 40 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1F5F6B"/>
                          </a:solidFill>
                          <a:latin typeface="Calibri"/>
                        </a:rPr>
                        <a:t>Design basis</a:t>
                      </a:r>
                    </a:p>
                  </a:txBody>
                  <a:tcPr marL="54864" marR="54864" marT="18288" marB="18288">
                    <a:solidFill>
                      <a:srgbClr val="E6F0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LoRa scalability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Bor, Roedig, Voigt, Alonso. "Do LoRa Low-Power Wide-Area Networks Scale?" ACM MSWiM 2016: collisions limit density; parameter choice and multiple sinks help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3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short frames, priority backoff, plan for several receiving stations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E07B1A"/>
                          </a:solidFill>
                          <a:latin typeface="Calibri"/>
                        </a:rPr>
                        <a:t>Needs evaluation</a:t>
                      </a:r>
                    </a:p>
                  </a:txBody>
                  <a:tcPr marL="54864" marR="54864" marT="18288" marB="18288">
                    <a:solidFill>
                      <a:srgbClr val="FDF1E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Managed flooding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Meshtastic, Mesh Broadcast Algorithm: hop-limited flooding, listen-before-rebroadcast, SNR-based contention window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4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dedup, hop limit, cancel-if-overheard; we add a distance-gradient rule and priority classes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2E8B57"/>
                          </a:solidFill>
                          <a:latin typeface="Calibri"/>
                        </a:rPr>
                        <a:t>MVP core</a:t>
                      </a:r>
                    </a:p>
                  </a:txBody>
                  <a:tcPr marL="54864" marR="54864" marT="18288" marB="18288">
                    <a:solidFill>
                      <a:srgbClr val="E7F4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Why flood routing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Meshtastic blog, "Why Meshtastic uses managed flood routing": trade-offs of flooding vs routed meshes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5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keep routing simple; limit flood scope with gradient + hop limit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2E8B57"/>
                          </a:solidFill>
                          <a:latin typeface="Calibri"/>
                        </a:rPr>
                        <a:t>MVP core</a:t>
                      </a:r>
                    </a:p>
                  </a:txBody>
                  <a:tcPr marL="54864" marR="54864" marT="18288" marB="18288">
                    <a:solidFill>
                      <a:srgbClr val="E7F4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Channel activity detection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Semtech, "Channel Activity Detection: ensuring your LoRa packets are sent": CAD detects LoRa preambles/chirps, not full carrier sense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6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CAD + random backoff before TX; collisions still possible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2E8B57"/>
                          </a:solidFill>
                          <a:latin typeface="Calibri"/>
                        </a:rPr>
                        <a:t>MVP (to test)</a:t>
                      </a:r>
                    </a:p>
                  </a:txBody>
                  <a:tcPr marL="54864" marR="54864" marT="18288" marB="18288">
                    <a:solidFill>
                      <a:srgbClr val="E7F4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SX1276 radio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Semtech SX1276/77/78/79 datasheet: LoRa modem, CAD mode, programmable SF/BW/CR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7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radio settings and CAD use match the actual chip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1F5F6B"/>
                          </a:solidFill>
                          <a:latin typeface="Calibri"/>
                        </a:rPr>
                        <a:t>Design basis</a:t>
                      </a:r>
                    </a:p>
                  </a:txBody>
                  <a:tcPr marL="54864" marR="54864" marT="18288" marB="18288">
                    <a:solidFill>
                      <a:srgbClr val="E6F0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ESP32 SoftAP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Espressif ESP-IDF Wi-Fi API (AP/STA modes); SoftAP example: max_connection default 4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8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optional phone form; few phones per node at a 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555D66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Browser location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MDN Geolocation API &amp; Chrome: geolocation only in secure contexts (HTTPS)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9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don't assume phone GPS on a local HTTP portal; use labelled node location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1F5F6B"/>
                          </a:solidFill>
                          <a:latin typeface="Calibri"/>
                        </a:rPr>
                        <a:t>Design constraint</a:t>
                      </a:r>
                    </a:p>
                  </a:txBody>
                  <a:tcPr marL="54864" marR="54864" marT="18288" marB="18288">
                    <a:solidFill>
                      <a:srgbClr val="E6F0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Indian band rules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DoT clarification on 865–867 MHz (1 W TX, 4 W ERP, 200 kHz carrier); GSR 853(E) 2021, 865–868 MHz SRD exemption rules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10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125 kHz BW inside 200 kHz; verify current limits in the 2021 gazette text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B5532A"/>
                          </a:solidFill>
                          <a:latin typeface="Calibri"/>
                        </a:rPr>
                        <a:t>Must verify</a:t>
                      </a:r>
                    </a:p>
                  </a:txBody>
                  <a:tcPr marL="54864" marR="54864" marT="18288" marB="18288">
                    <a:solidFill>
                      <a:srgbClr val="FBEE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Regional plan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LoRa Alliance RP002-1.0.3 Regional Parameters, IN865-867 section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11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channel-plan reference (we do not run LoRaWAN)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555D66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18288" marB="18288">
                    <a:solidFill>
                      <a:srgbClr val="F3F5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6191D"/>
                          </a:solidFill>
                          <a:latin typeface="Calibri"/>
                        </a:rPr>
                        <a:t>Public warning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NDMA CAP-based Integrated Alert System (SACHET), built with C-DOT  </a:t>
                      </a:r>
                      <a:r>
                        <a:rPr sz="790" b="1">
                          <a:solidFill>
                            <a:srgbClr val="1F5F6B"/>
                          </a:solidFill>
                          <a:latin typeface="Calibri"/>
                          <a:hlinkClick r:id="rId12"/>
                        </a:rPr>
                        <a:t>↗ link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90">
                          <a:solidFill>
                            <a:srgbClr val="16191D"/>
                          </a:solidFill>
                          <a:latin typeface="Calibri"/>
                        </a:rPr>
                        <a:t>proposed route to announce SOS node locations; no integration exists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60" b="1">
                          <a:solidFill>
                            <a:srgbClr val="E07B1A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54864" marR="54864" marT="18288" marB="18288"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943600"/>
            <a:ext cx="11365992" cy="530352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E07B1A"/>
                </a:solidFill>
                <a:latin typeface="Calibri"/>
              </a:rPr>
              <a:t>Read this right: </a:t>
            </a:r>
            <a:r>
              <a:rPr sz="860" b="0" i="0">
                <a:solidFill>
                  <a:srgbClr val="16191D"/>
                </a:solidFill>
                <a:latin typeface="Calibri"/>
              </a:rPr>
              <a:t>published work supports individual techniques (airtime, CAD, managed flooding, band rules). It does not show that VOID-NAV as a whole works. Our own contribution is the integration and protocol design, and every performance figure in this deck is an estimate or target until measured on our prototype.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556248"/>
            <a:ext cx="11365992" cy="10972"/>
          </a:xfrm>
          <a:prstGeom prst="rect">
            <a:avLst/>
          </a:prstGeom>
          <a:solidFill>
            <a:srgbClr val="C9D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TEAM VOID · VOID-NAV · DISASTER-RESILIENT SOS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6019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 spc="120">
                <a:solidFill>
                  <a:srgbClr val="8A939B"/>
                </a:solidFill>
                <a:latin typeface="Consola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