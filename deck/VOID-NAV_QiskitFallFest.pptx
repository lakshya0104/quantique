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21216"/>
                </a:solidFill>
                <a:latin typeface="Calibri"/>
              </a:rPr>
              <a:t>Position error after GPS loss (m), simulated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Inertial only (MEMS IMU)</c:v>
                </c:pt>
              </c:strCache>
            </c:strRef>
          </c:tx>
          <c:spPr>
            <a:ln w="34925">
              <a:solidFill>
                <a:srgbClr val="A8A8B2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0s</c:v>
                </c:pt>
                <c:pt idx="1">
                  <c:v>10s</c:v>
                </c:pt>
                <c:pt idx="2">
                  <c:v>20s</c:v>
                </c:pt>
                <c:pt idx="3">
                  <c:v>30s</c:v>
                </c:pt>
                <c:pt idx="4">
                  <c:v>40s</c:v>
                </c:pt>
                <c:pt idx="5">
                  <c:v>50s</c:v>
                </c:pt>
                <c:pt idx="6">
                  <c:v>60s</c:v>
                </c:pt>
                <c:pt idx="7">
                  <c:v>70s</c:v>
                </c:pt>
                <c:pt idx="8">
                  <c:v>80s</c:v>
                </c:pt>
                <c:pt idx="9">
                  <c:v>90s</c:v>
                </c:pt>
                <c:pt idx="10">
                  <c:v>100s</c:v>
                </c:pt>
                <c:pt idx="11">
                  <c:v>110s</c:v>
                </c:pt>
                <c:pt idx="12">
                  <c:v>120s</c:v>
                </c:pt>
                <c:pt idx="13">
                  <c:v>130s</c:v>
                </c:pt>
                <c:pt idx="14">
                  <c:v>140s</c:v>
                </c:pt>
                <c:pt idx="15">
                  <c:v>150s</c:v>
                </c:pt>
                <c:pt idx="16">
                  <c:v>160s</c:v>
                </c:pt>
                <c:pt idx="17">
                  <c:v>170s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0.0</c:v>
                </c:pt>
                <c:pt idx="1">
                  <c:v>1.1</c:v>
                </c:pt>
                <c:pt idx="2">
                  <c:v>3.7</c:v>
                </c:pt>
                <c:pt idx="3">
                  <c:v>7.8</c:v>
                </c:pt>
                <c:pt idx="4">
                  <c:v>13.6</c:v>
                </c:pt>
                <c:pt idx="5">
                  <c:v>20.9</c:v>
                </c:pt>
                <c:pt idx="6">
                  <c:v>29.9</c:v>
                </c:pt>
                <c:pt idx="7">
                  <c:v>40.5</c:v>
                </c:pt>
                <c:pt idx="8">
                  <c:v>52.6</c:v>
                </c:pt>
                <c:pt idx="9">
                  <c:v>66.3</c:v>
                </c:pt>
                <c:pt idx="10">
                  <c:v>81.6</c:v>
                </c:pt>
                <c:pt idx="11">
                  <c:v>98.5</c:v>
                </c:pt>
                <c:pt idx="12">
                  <c:v>117.0</c:v>
                </c:pt>
                <c:pt idx="13">
                  <c:v>137.1</c:v>
                </c:pt>
                <c:pt idx="14">
                  <c:v>158.8</c:v>
                </c:pt>
                <c:pt idx="15">
                  <c:v>182.0</c:v>
                </c:pt>
                <c:pt idx="16">
                  <c:v>206.9</c:v>
                </c:pt>
                <c:pt idx="17">
                  <c:v>233.5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VOID-NAV (MEMS mag fix)</c:v>
                </c:pt>
              </c:strCache>
            </c:strRef>
          </c:tx>
          <c:spPr>
            <a:ln w="34925">
              <a:solidFill>
                <a:srgbClr val="F237A6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0s</c:v>
                </c:pt>
                <c:pt idx="1">
                  <c:v>10s</c:v>
                </c:pt>
                <c:pt idx="2">
                  <c:v>20s</c:v>
                </c:pt>
                <c:pt idx="3">
                  <c:v>30s</c:v>
                </c:pt>
                <c:pt idx="4">
                  <c:v>40s</c:v>
                </c:pt>
                <c:pt idx="5">
                  <c:v>50s</c:v>
                </c:pt>
                <c:pt idx="6">
                  <c:v>60s</c:v>
                </c:pt>
                <c:pt idx="7">
                  <c:v>70s</c:v>
                </c:pt>
                <c:pt idx="8">
                  <c:v>80s</c:v>
                </c:pt>
                <c:pt idx="9">
                  <c:v>90s</c:v>
                </c:pt>
                <c:pt idx="10">
                  <c:v>100s</c:v>
                </c:pt>
                <c:pt idx="11">
                  <c:v>110s</c:v>
                </c:pt>
                <c:pt idx="12">
                  <c:v>120s</c:v>
                </c:pt>
                <c:pt idx="13">
                  <c:v>130s</c:v>
                </c:pt>
                <c:pt idx="14">
                  <c:v>140s</c:v>
                </c:pt>
                <c:pt idx="15">
                  <c:v>150s</c:v>
                </c:pt>
                <c:pt idx="16">
                  <c:v>160s</c:v>
                </c:pt>
                <c:pt idx="17">
                  <c:v>170s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0.0</c:v>
                </c:pt>
                <c:pt idx="1">
                  <c:v>5.6</c:v>
                </c:pt>
                <c:pt idx="2">
                  <c:v>5.5</c:v>
                </c:pt>
                <c:pt idx="3">
                  <c:v>5.4</c:v>
                </c:pt>
                <c:pt idx="4">
                  <c:v>5.6</c:v>
                </c:pt>
                <c:pt idx="5">
                  <c:v>5.4</c:v>
                </c:pt>
                <c:pt idx="6">
                  <c:v>5.6</c:v>
                </c:pt>
                <c:pt idx="7">
                  <c:v>5.2</c:v>
                </c:pt>
                <c:pt idx="8">
                  <c:v>4.9</c:v>
                </c:pt>
                <c:pt idx="9">
                  <c:v>4.8</c:v>
                </c:pt>
                <c:pt idx="10">
                  <c:v>5.3</c:v>
                </c:pt>
                <c:pt idx="11">
                  <c:v>5.3</c:v>
                </c:pt>
                <c:pt idx="12">
                  <c:v>5.1</c:v>
                </c:pt>
                <c:pt idx="13">
                  <c:v>5.4</c:v>
                </c:pt>
                <c:pt idx="14">
                  <c:v>5.3</c:v>
                </c:pt>
                <c:pt idx="15">
                  <c:v>5.1</c:v>
                </c:pt>
                <c:pt idx="16">
                  <c:v>5.8</c:v>
                </c:pt>
                <c:pt idx="17">
                  <c:v>5.6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8A8B2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6E6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E5E6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21216"/>
                </a:solidFill>
              </a:rPr>
              <a:t>Grover on Aer · 4,096 shots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Shots</c:v>
                </c:pt>
              </c:strCache>
            </c:strRef>
          </c:tx>
          <c:spPr>
            <a:solidFill>
              <a:srgbClr val="D9D9DF"/>
            </a:solidFill>
          </c:spPr>
          <c:dPt>
            <c:idx val="6"/>
            <c:spPr>
              <a:solidFill>
                <a:srgbClr val="F237A6"/>
              </a:solidFill>
            </c:spPr>
          </c:dPt>
          <c:dPt>
            <c:idx val="11"/>
            <c:spPr>
              <a:solidFill>
                <a:srgbClr val="F237A6"/>
              </a:solidFill>
            </c:spPr>
          </c:dPt>
          <c:cat>
            <c:strRef>
              <c:f>Sheet1!$A$2:$A$17</c:f>
              <c:strCache>
                <c:ptCount val="16"/>
                <c:pt idx="0">
                  <c:v>0000</c:v>
                </c:pt>
                <c:pt idx="1">
                  <c:v>0001</c:v>
                </c:pt>
                <c:pt idx="2">
                  <c:v>0010</c:v>
                </c:pt>
                <c:pt idx="3">
                  <c:v>0011</c:v>
                </c:pt>
                <c:pt idx="4">
                  <c:v>0100</c:v>
                </c:pt>
                <c:pt idx="5">
                  <c:v>0101</c:v>
                </c:pt>
                <c:pt idx="6">
                  <c:v>0110</c:v>
                </c:pt>
                <c:pt idx="7">
                  <c:v>0111</c:v>
                </c:pt>
                <c:pt idx="8">
                  <c:v>1000</c:v>
                </c:pt>
                <c:pt idx="9">
                  <c:v>1001</c:v>
                </c:pt>
                <c:pt idx="10">
                  <c:v>1010</c:v>
                </c:pt>
                <c:pt idx="11">
                  <c:v>1011</c:v>
                </c:pt>
                <c:pt idx="12">
                  <c:v>1100</c:v>
                </c:pt>
                <c:pt idx="13">
                  <c:v>1101</c:v>
                </c:pt>
                <c:pt idx="14">
                  <c:v>1110</c:v>
                </c:pt>
                <c:pt idx="15">
                  <c:v>1111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12</c:v>
                </c:pt>
                <c:pt idx="1">
                  <c:v>22</c:v>
                </c:pt>
                <c:pt idx="2">
                  <c:v>15</c:v>
                </c:pt>
                <c:pt idx="3">
                  <c:v>16</c:v>
                </c:pt>
                <c:pt idx="4">
                  <c:v>18</c:v>
                </c:pt>
                <c:pt idx="5">
                  <c:v>9</c:v>
                </c:pt>
                <c:pt idx="6">
                  <c:v>1914</c:v>
                </c:pt>
                <c:pt idx="7">
                  <c:v>20</c:v>
                </c:pt>
                <c:pt idx="8">
                  <c:v>20</c:v>
                </c:pt>
                <c:pt idx="9">
                  <c:v>21</c:v>
                </c:pt>
                <c:pt idx="10">
                  <c:v>22</c:v>
                </c:pt>
                <c:pt idx="11">
                  <c:v>1937</c:v>
                </c:pt>
                <c:pt idx="12">
                  <c:v>13</c:v>
                </c:pt>
                <c:pt idx="13">
                  <c:v>12</c:v>
                </c:pt>
                <c:pt idx="14">
                  <c:v>21</c:v>
                </c:pt>
                <c:pt idx="15">
                  <c:v>24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8A8B2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5E5E6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21216"/>
                </a:solidFill>
              </a:rPr>
              <a:t>Error after GPS loss (m, log scale)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Inertial only</c:v>
                </c:pt>
              </c:strCache>
            </c:strRef>
          </c:tx>
          <c:spPr>
            <a:ln w="28575">
              <a:solidFill>
                <a:srgbClr val="A8A8B2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0s</c:v>
                </c:pt>
                <c:pt idx="1">
                  <c:v>10s</c:v>
                </c:pt>
                <c:pt idx="2">
                  <c:v>20s</c:v>
                </c:pt>
                <c:pt idx="3">
                  <c:v>30s</c:v>
                </c:pt>
                <c:pt idx="4">
                  <c:v>40s</c:v>
                </c:pt>
                <c:pt idx="5">
                  <c:v>50s</c:v>
                </c:pt>
                <c:pt idx="6">
                  <c:v>60s</c:v>
                </c:pt>
                <c:pt idx="7">
                  <c:v>70s</c:v>
                </c:pt>
                <c:pt idx="8">
                  <c:v>80s</c:v>
                </c:pt>
                <c:pt idx="9">
                  <c:v>90s</c:v>
                </c:pt>
                <c:pt idx="10">
                  <c:v>100s</c:v>
                </c:pt>
                <c:pt idx="11">
                  <c:v>110s</c:v>
                </c:pt>
                <c:pt idx="12">
                  <c:v>120s</c:v>
                </c:pt>
                <c:pt idx="13">
                  <c:v>130s</c:v>
                </c:pt>
                <c:pt idx="14">
                  <c:v>140s</c:v>
                </c:pt>
                <c:pt idx="15">
                  <c:v>150s</c:v>
                </c:pt>
                <c:pt idx="16">
                  <c:v>160s</c:v>
                </c:pt>
                <c:pt idx="17">
                  <c:v>170s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0.0</c:v>
                </c:pt>
                <c:pt idx="1">
                  <c:v>1.1</c:v>
                </c:pt>
                <c:pt idx="2">
                  <c:v>3.7</c:v>
                </c:pt>
                <c:pt idx="3">
                  <c:v>7.8</c:v>
                </c:pt>
                <c:pt idx="4">
                  <c:v>13.6</c:v>
                </c:pt>
                <c:pt idx="5">
                  <c:v>20.9</c:v>
                </c:pt>
                <c:pt idx="6">
                  <c:v>29.9</c:v>
                </c:pt>
                <c:pt idx="7">
                  <c:v>40.5</c:v>
                </c:pt>
                <c:pt idx="8">
                  <c:v>52.6</c:v>
                </c:pt>
                <c:pt idx="9">
                  <c:v>66.3</c:v>
                </c:pt>
                <c:pt idx="10">
                  <c:v>81.6</c:v>
                </c:pt>
                <c:pt idx="11">
                  <c:v>98.5</c:v>
                </c:pt>
                <c:pt idx="12">
                  <c:v>117.0</c:v>
                </c:pt>
                <c:pt idx="13">
                  <c:v>137.1</c:v>
                </c:pt>
                <c:pt idx="14">
                  <c:v>158.8</c:v>
                </c:pt>
                <c:pt idx="15">
                  <c:v>182.0</c:v>
                </c:pt>
                <c:pt idx="16">
                  <c:v>206.9</c:v>
                </c:pt>
                <c:pt idx="17">
                  <c:v>233.5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VOID-NAV · MEMS magnetometer</c:v>
                </c:pt>
              </c:strCache>
            </c:strRef>
          </c:tx>
          <c:spPr>
            <a:ln w="28575">
              <a:solidFill>
                <a:srgbClr val="F237A6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0s</c:v>
                </c:pt>
                <c:pt idx="1">
                  <c:v>10s</c:v>
                </c:pt>
                <c:pt idx="2">
                  <c:v>20s</c:v>
                </c:pt>
                <c:pt idx="3">
                  <c:v>30s</c:v>
                </c:pt>
                <c:pt idx="4">
                  <c:v>40s</c:v>
                </c:pt>
                <c:pt idx="5">
                  <c:v>50s</c:v>
                </c:pt>
                <c:pt idx="6">
                  <c:v>60s</c:v>
                </c:pt>
                <c:pt idx="7">
                  <c:v>70s</c:v>
                </c:pt>
                <c:pt idx="8">
                  <c:v>80s</c:v>
                </c:pt>
                <c:pt idx="9">
                  <c:v>90s</c:v>
                </c:pt>
                <c:pt idx="10">
                  <c:v>100s</c:v>
                </c:pt>
                <c:pt idx="11">
                  <c:v>110s</c:v>
                </c:pt>
                <c:pt idx="12">
                  <c:v>120s</c:v>
                </c:pt>
                <c:pt idx="13">
                  <c:v>130s</c:v>
                </c:pt>
                <c:pt idx="14">
                  <c:v>140s</c:v>
                </c:pt>
                <c:pt idx="15">
                  <c:v>150s</c:v>
                </c:pt>
                <c:pt idx="16">
                  <c:v>160s</c:v>
                </c:pt>
                <c:pt idx="17">
                  <c:v>170s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0.0</c:v>
                </c:pt>
                <c:pt idx="1">
                  <c:v>5.6</c:v>
                </c:pt>
                <c:pt idx="2">
                  <c:v>5.5</c:v>
                </c:pt>
                <c:pt idx="3">
                  <c:v>5.4</c:v>
                </c:pt>
                <c:pt idx="4">
                  <c:v>5.6</c:v>
                </c:pt>
                <c:pt idx="5">
                  <c:v>5.4</c:v>
                </c:pt>
                <c:pt idx="6">
                  <c:v>5.6</c:v>
                </c:pt>
                <c:pt idx="7">
                  <c:v>5.2</c:v>
                </c:pt>
                <c:pt idx="8">
                  <c:v>4.9</c:v>
                </c:pt>
                <c:pt idx="9">
                  <c:v>4.8</c:v>
                </c:pt>
                <c:pt idx="10">
                  <c:v>5.3</c:v>
                </c:pt>
                <c:pt idx="11">
                  <c:v>5.3</c:v>
                </c:pt>
                <c:pt idx="12">
                  <c:v>5.1</c:v>
                </c:pt>
                <c:pt idx="13">
                  <c:v>5.4</c:v>
                </c:pt>
                <c:pt idx="14">
                  <c:v>5.3</c:v>
                </c:pt>
                <c:pt idx="15">
                  <c:v>5.1</c:v>
                </c:pt>
                <c:pt idx="16">
                  <c:v>5.8</c:v>
                </c:pt>
                <c:pt idx="17">
                  <c:v>5.6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VOID-NAV · simulated NV sensor</c:v>
                </c:pt>
              </c:strCache>
            </c:strRef>
          </c:tx>
          <c:spPr>
            <a:ln w="28575">
              <a:solidFill>
                <a:srgbClr val="121216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0s</c:v>
                </c:pt>
                <c:pt idx="1">
                  <c:v>10s</c:v>
                </c:pt>
                <c:pt idx="2">
                  <c:v>20s</c:v>
                </c:pt>
                <c:pt idx="3">
                  <c:v>30s</c:v>
                </c:pt>
                <c:pt idx="4">
                  <c:v>40s</c:v>
                </c:pt>
                <c:pt idx="5">
                  <c:v>50s</c:v>
                </c:pt>
                <c:pt idx="6">
                  <c:v>60s</c:v>
                </c:pt>
                <c:pt idx="7">
                  <c:v>70s</c:v>
                </c:pt>
                <c:pt idx="8">
                  <c:v>80s</c:v>
                </c:pt>
                <c:pt idx="9">
                  <c:v>90s</c:v>
                </c:pt>
                <c:pt idx="10">
                  <c:v>100s</c:v>
                </c:pt>
                <c:pt idx="11">
                  <c:v>110s</c:v>
                </c:pt>
                <c:pt idx="12">
                  <c:v>120s</c:v>
                </c:pt>
                <c:pt idx="13">
                  <c:v>130s</c:v>
                </c:pt>
                <c:pt idx="14">
                  <c:v>140s</c:v>
                </c:pt>
                <c:pt idx="15">
                  <c:v>150s</c:v>
                </c:pt>
                <c:pt idx="16">
                  <c:v>160s</c:v>
                </c:pt>
                <c:pt idx="17">
                  <c:v>170s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0.0</c:v>
                </c:pt>
                <c:pt idx="1">
                  <c:v>0.9</c:v>
                </c:pt>
                <c:pt idx="2">
                  <c:v>0.9</c:v>
                </c:pt>
                <c:pt idx="3">
                  <c:v>0.9</c:v>
                </c:pt>
                <c:pt idx="4">
                  <c:v>0.9</c:v>
                </c:pt>
                <c:pt idx="5">
                  <c:v>0.9</c:v>
                </c:pt>
                <c:pt idx="6">
                  <c:v>0.8</c:v>
                </c:pt>
                <c:pt idx="7">
                  <c:v>0.9</c:v>
                </c:pt>
                <c:pt idx="8">
                  <c:v>0.9</c:v>
                </c:pt>
                <c:pt idx="9">
                  <c:v>0.9</c:v>
                </c:pt>
                <c:pt idx="10">
                  <c:v>0.9</c:v>
                </c:pt>
                <c:pt idx="11">
                  <c:v>0.9</c:v>
                </c:pt>
                <c:pt idx="12">
                  <c:v>0.9</c:v>
                </c:pt>
                <c:pt idx="13">
                  <c:v>0.8</c:v>
                </c:pt>
                <c:pt idx="14">
                  <c:v>0.9</c:v>
                </c:pt>
                <c:pt idx="15">
                  <c:v>1.0</c:v>
                </c:pt>
                <c:pt idx="16">
                  <c:v>0.9</c:v>
                </c:pt>
                <c:pt idx="17">
                  <c:v>0.9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max val="1000.0"/>
          <c:min val="0.1"/>
        </c:scaling>
        <c:delete val="0"/>
        <c:axPos val="l"/>
        <c:majorGridlines>
          <c:spPr>
            <a:ln>
              <a:solidFill>
                <a:srgbClr val="E6E6EA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5E5E6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0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0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0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0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0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4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8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9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5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9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5" Type="http://schemas.openxmlformats.org/officeDocument/2006/relationships/hyperlink" Target="https://youtu.be/BV2KYV-yhL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hyperlink" Target="https://youtu.be/BV2KYV-yhL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4" name=""/>
        <p:cNvGrpSpPr/>
        <p:nvPr/>
      </p:nvGrpSpPr>
      <p:grpSpPr>
        <a:xfrm/>
      </p:grpSpPr>
      <p:pic>
        <p:nvPicPr>
          <p:cNvPr id="2097152" name="Picture 1" descr="rgukt_clea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8912" y="292608"/>
            <a:ext cx="473583" cy="585216"/>
          </a:xfrm>
          <a:prstGeom prst="rect"/>
        </p:spPr>
      </p:pic>
      <p:pic>
        <p:nvPicPr>
          <p:cNvPr id="2097153" name="Picture 2" descr="qiskit_clea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716768" y="246888"/>
            <a:ext cx="694944" cy="694944"/>
          </a:xfrm>
          <a:prstGeom prst="rect"/>
        </p:spPr>
      </p:pic>
      <p:sp>
        <p:nvSpPr>
          <p:cNvPr id="1048584" name="TextBox 3"/>
          <p:cNvSpPr txBox="1"/>
          <p:nvPr/>
        </p:nvSpPr>
        <p:spPr>
          <a:xfrm>
            <a:off x="2052650" y="661160"/>
            <a:ext cx="7042732" cy="561342"/>
          </a:xfrm>
          <a:prstGeom prst="rect"/>
          <a:noFill/>
        </p:spPr>
        <p:txBody>
          <a:bodyPr anchor="ctr" wrap="square">
            <a:spAutoFit/>
          </a:bodyPr>
          <a:p>
            <a:pPr algn="ctr"/>
            <a:r>
              <a:rPr b="1" sz="2600">
                <a:solidFill>
                  <a:srgbClr val="121216"/>
                </a:solidFill>
                <a:latin typeface="Cambria"/>
              </a:rPr>
              <a:t>QUANTUM PNT FOR DRONES</a:t>
            </a:r>
          </a:p>
        </p:txBody>
      </p:sp>
      <p:sp>
        <p:nvSpPr>
          <p:cNvPr id="1048589" name="Rectangle 8"/>
          <p:cNvSpPr/>
          <p:nvPr/>
        </p:nvSpPr>
        <p:spPr>
          <a:xfrm>
            <a:off x="365760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0" name="Rectangle 9"/>
          <p:cNvSpPr/>
          <p:nvPr/>
        </p:nvSpPr>
        <p:spPr>
          <a:xfrm>
            <a:off x="77724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1" name="Parallelogram 10"/>
          <p:cNvSpPr/>
          <p:nvPr/>
        </p:nvSpPr>
        <p:spPr>
          <a:xfrm>
            <a:off x="310896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2" name="Parallelogram 11"/>
          <p:cNvSpPr/>
          <p:nvPr/>
        </p:nvSpPr>
        <p:spPr>
          <a:xfrm>
            <a:off x="11475720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3" name="Rectangle 12"/>
          <p:cNvSpPr/>
          <p:nvPr/>
        </p:nvSpPr>
        <p:spPr>
          <a:xfrm>
            <a:off x="982980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4" name="Rectangle 13"/>
          <p:cNvSpPr/>
          <p:nvPr/>
        </p:nvSpPr>
        <p:spPr>
          <a:xfrm>
            <a:off x="11311128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5" name="Oval 14"/>
          <p:cNvSpPr/>
          <p:nvPr/>
        </p:nvSpPr>
        <p:spPr>
          <a:xfrm>
            <a:off x="5852160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6" name="Oval 15"/>
          <p:cNvSpPr/>
          <p:nvPr/>
        </p:nvSpPr>
        <p:spPr>
          <a:xfrm>
            <a:off x="6016752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7" name="Oval 16"/>
          <p:cNvSpPr/>
          <p:nvPr/>
        </p:nvSpPr>
        <p:spPr>
          <a:xfrm>
            <a:off x="6181344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8" name="TextBox 17"/>
          <p:cNvSpPr txBox="1"/>
          <p:nvPr/>
        </p:nvSpPr>
        <p:spPr>
          <a:xfrm>
            <a:off x="566928" y="6133338"/>
            <a:ext cx="1485722" cy="205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850">
                <a:solidFill>
                  <a:srgbClr val="121216"/>
                </a:solidFill>
                <a:latin typeface="Aptos"/>
              </a:rPr>
              <a:t>PLUS QISKIT FALL FEST 2026</a:t>
            </a:r>
          </a:p>
        </p:txBody>
      </p:sp>
      <p:sp>
        <p:nvSpPr>
          <p:cNvPr id="1048599" name="TextBox 18"/>
          <p:cNvSpPr txBox="1"/>
          <p:nvPr/>
        </p:nvSpPr>
        <p:spPr>
          <a:xfrm>
            <a:off x="11018520" y="6126988"/>
            <a:ext cx="297180" cy="218440"/>
          </a:xfrm>
          <a:prstGeom prst="rect"/>
          <a:noFill/>
        </p:spPr>
        <p:txBody>
          <a:bodyPr anchor="ctr" wrap="none">
            <a:spAutoFit/>
          </a:bodyPr>
          <a:p>
            <a:pPr algn="r"/>
            <a:r>
              <a:rPr b="0" sz="900">
                <a:solidFill>
                  <a:srgbClr val="121216"/>
                </a:solidFill>
                <a:latin typeface="Aptos"/>
              </a:rPr>
              <a:t>01</a:t>
            </a:r>
          </a:p>
        </p:txBody>
      </p:sp>
      <p:sp>
        <p:nvSpPr>
          <p:cNvPr id="2097154" name="TextBox 2097153"/>
          <p:cNvSpPr txBox="1"/>
          <p:nvPr/>
        </p:nvSpPr>
        <p:spPr>
          <a:xfrm>
            <a:off x="685800" y="16002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UC-085 · DEFENCE &amp; STRATEGIC APPLICATIONS</a:t>
            </a:r>
          </a:p>
        </p:txBody>
      </p:sp>
      <p:sp>
        <p:nvSpPr>
          <p:cNvPr id="2097155" name="TextBox 2097154"/>
          <p:cNvSpPr txBox="1"/>
          <p:nvPr/>
        </p:nvSpPr>
        <p:spPr>
          <a:xfrm>
            <a:off x="685800" y="1874519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121216"/>
                </a:solidFill>
                <a:latin typeface="Cambria"/>
              </a:rPr>
              <a:t>VOID-NAV</a:t>
            </a:r>
          </a:p>
        </p:txBody>
      </p:sp>
      <p:sp>
        <p:nvSpPr>
          <p:cNvPr id="2097156" name="TextBox 2097155"/>
          <p:cNvSpPr txBox="1"/>
          <p:nvPr/>
        </p:nvSpPr>
        <p:spPr>
          <a:xfrm>
            <a:off x="685800" y="269748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E5E6A"/>
                </a:solidFill>
                <a:latin typeface="Cambria"/>
              </a:rPr>
              <a:t>Navigating without the sky: a quantum-assisted positioning payload that reads the Earth's magnetic fingerprint when GNSS is jammed, spoofed or unavailable.</a:t>
            </a:r>
          </a:p>
        </p:txBody>
      </p:sp>
      <p:sp>
        <p:nvSpPr>
          <p:cNvPr id="2097157" name="Rounded Rectangle 2097156"/>
          <p:cNvSpPr/>
          <p:nvPr/>
        </p:nvSpPr>
        <p:spPr>
          <a:xfrm>
            <a:off x="685800" y="379476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8" name="TextBox 2097157"/>
          <p:cNvSpPr txBox="1"/>
          <p:nvPr/>
        </p:nvSpPr>
        <p:spPr>
          <a:xfrm>
            <a:off x="685800" y="3794760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8A145E"/>
                </a:solidFill>
                <a:latin typeface="Calibri"/>
              </a:rPr>
              <a:t>Quantum sensing</a:t>
            </a:r>
          </a:p>
        </p:txBody>
      </p:sp>
      <p:sp>
        <p:nvSpPr>
          <p:cNvPr id="2097159" name="Rounded Rectangle 2097158"/>
          <p:cNvSpPr/>
          <p:nvPr/>
        </p:nvSpPr>
        <p:spPr>
          <a:xfrm>
            <a:off x="2093976" y="3794760"/>
            <a:ext cx="1155801" cy="310896"/>
          </a:xfrm>
          <a:prstGeom prst="roundRect">
            <a:avLst>
              <a:gd name="adj" fmla="val 50000"/>
            </a:avLst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0" name="TextBox 2097159"/>
          <p:cNvSpPr txBox="1"/>
          <p:nvPr/>
        </p:nvSpPr>
        <p:spPr>
          <a:xfrm>
            <a:off x="2093976" y="3794760"/>
            <a:ext cx="11558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8A145E"/>
                </a:solidFill>
                <a:latin typeface="Calibri"/>
              </a:rPr>
              <a:t>Grover search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3359505" y="3794760"/>
            <a:ext cx="1441094" cy="310896"/>
          </a:xfrm>
          <a:prstGeom prst="roundRect">
            <a:avLst>
              <a:gd name="adj" fmla="val 50000"/>
            </a:avLst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2" name="TextBox 2097161"/>
          <p:cNvSpPr txBox="1"/>
          <p:nvPr/>
        </p:nvSpPr>
        <p:spPr>
          <a:xfrm>
            <a:off x="3359505" y="3794760"/>
            <a:ext cx="144109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8A145E"/>
                </a:solidFill>
                <a:latin typeface="Calibri"/>
              </a:rPr>
              <a:t>Quantum kernel ML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4910328" y="3794760"/>
            <a:ext cx="1155801" cy="310896"/>
          </a:xfrm>
          <a:prstGeom prst="roundRect">
            <a:avLst>
              <a:gd name="adj" fmla="val 50000"/>
            </a:avLst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TextBox 2097163"/>
          <p:cNvSpPr txBox="1"/>
          <p:nvPr/>
        </p:nvSpPr>
        <p:spPr>
          <a:xfrm>
            <a:off x="4910328" y="3794760"/>
            <a:ext cx="11558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8A145E"/>
                </a:solidFill>
                <a:latin typeface="Calibri"/>
              </a:rPr>
              <a:t>QAOA planning</a:t>
            </a:r>
          </a:p>
        </p:txBody>
      </p:sp>
      <p:sp>
        <p:nvSpPr>
          <p:cNvPr id="2097165" name="TextBox 2097164"/>
          <p:cNvSpPr txBox="1"/>
          <p:nvPr/>
        </p:nvSpPr>
        <p:spPr>
          <a:xfrm>
            <a:off x="685800" y="443484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5E5E6A"/>
                </a:solidFill>
                <a:latin typeface="Consolas"/>
              </a:rPr>
              <a:t>TEAM</a:t>
            </a:r>
          </a:p>
        </p:txBody>
      </p:sp>
      <p:sp>
        <p:nvSpPr>
          <p:cNvPr id="2097166" name="TextBox 2097165"/>
          <p:cNvSpPr txBox="1"/>
          <p:nvPr/>
        </p:nvSpPr>
        <p:spPr>
          <a:xfrm>
            <a:off x="685800" y="464515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216"/>
                </a:solidFill>
                <a:latin typeface="Cambria"/>
              </a:rPr>
              <a:t>Team VOID</a:t>
            </a:r>
          </a:p>
        </p:txBody>
      </p:sp>
      <p:sp>
        <p:nvSpPr>
          <p:cNvPr id="2097167" name="TextBox 2097166"/>
          <p:cNvSpPr txBox="1"/>
          <p:nvPr/>
        </p:nvSpPr>
        <p:spPr>
          <a:xfrm>
            <a:off x="3108960" y="443484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5E5E6A"/>
                </a:solidFill>
                <a:latin typeface="Consolas"/>
              </a:rPr>
              <a:t>DELIVERABLE</a:t>
            </a:r>
          </a:p>
        </p:txBody>
      </p:sp>
      <p:sp>
        <p:nvSpPr>
          <p:cNvPr id="2097168" name="TextBox 2097167"/>
          <p:cNvSpPr txBox="1"/>
          <p:nvPr/>
        </p:nvSpPr>
        <p:spPr>
          <a:xfrm>
            <a:off x="3108960" y="46817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21216"/>
                </a:solidFill>
                <a:latin typeface="Calibri"/>
              </a:rPr>
              <a:t>Working payload prototype + Qiskit pipeline + live dashboard</a:t>
            </a:r>
          </a:p>
        </p:txBody>
      </p:sp>
      <p:pic>
        <p:nvPicPr>
          <p:cNvPr id="2097169" name="Picture 2097168" descr="dr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463040"/>
            <a:ext cx="5257800" cy="3154680"/>
          </a:xfrm>
          <a:prstGeom prst="rect">
            <a:avLst/>
          </a:prstGeom>
        </p:spPr>
      </p:pic>
      <p:sp>
        <p:nvSpPr>
          <p:cNvPr id="2097170" name="Rounded Rectangle 2097169"/>
          <p:cNvSpPr/>
          <p:nvPr/>
        </p:nvSpPr>
        <p:spPr>
          <a:xfrm>
            <a:off x="6675120" y="4617720"/>
            <a:ext cx="4937760" cy="566928"/>
          </a:xfrm>
          <a:prstGeom prst="roundRect">
            <a:avLst>
              <a:gd name="adj" fmla="val 20000"/>
            </a:avLst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1" name="TextBox 2097170"/>
          <p:cNvSpPr txBox="1"/>
          <p:nvPr/>
        </p:nvSpPr>
        <p:spPr>
          <a:xfrm>
            <a:off x="6858000" y="461772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00">
                <a:solidFill>
                  <a:srgbClr val="F237A6"/>
                </a:solidFill>
                <a:latin typeface="Consolas"/>
              </a:rPr>
              <a:t>VIDEO PITCH</a:t>
            </a:r>
          </a:p>
        </p:txBody>
      </p:sp>
      <p:sp>
        <p:nvSpPr>
          <p:cNvPr id="2097172" name="TextBox 2097171"/>
          <p:cNvSpPr txBox="1"/>
          <p:nvPr/>
        </p:nvSpPr>
        <p:spPr>
          <a:xfrm>
            <a:off x="8549640" y="461772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A145E"/>
                </a:solidFill>
                <a:latin typeface="Calibri"/>
                <a:hlinkClick r:id="rId5"/>
              </a:rPr>
              <a:t>https://youtu.be/BV2KYV-yhL0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" name=""/>
        <p:cNvGrpSpPr/>
        <p:nvPr/>
      </p:nvGrpSpPr>
      <p:grpSpPr>
        <a:xfrm/>
      </p:grpSpPr>
      <p:pic>
        <p:nvPicPr>
          <p:cNvPr id="2097154" name="Picture 1" descr="rgukt_clea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8912" y="292608"/>
            <a:ext cx="473583" cy="585216"/>
          </a:xfrm>
          <a:prstGeom prst="rect"/>
        </p:spPr>
      </p:pic>
      <p:pic>
        <p:nvPicPr>
          <p:cNvPr id="2097155" name="Picture 2" descr="qiskit_clea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716768" y="246888"/>
            <a:ext cx="694944" cy="694944"/>
          </a:xfrm>
          <a:prstGeom prst="rect"/>
        </p:spPr>
      </p:pic>
      <p:sp>
        <p:nvSpPr>
          <p:cNvPr id="1048600" name="TextBox 3"/>
          <p:cNvSpPr txBox="1"/>
          <p:nvPr/>
        </p:nvSpPr>
        <p:spPr>
          <a:xfrm>
            <a:off x="2565146" y="594359"/>
            <a:ext cx="7342125" cy="561340"/>
          </a:xfrm>
          <a:prstGeom prst="rect"/>
          <a:noFill/>
        </p:spPr>
        <p:txBody>
          <a:bodyPr anchor="ctr" wrap="square">
            <a:spAutoFit/>
          </a:bodyPr>
          <a:p>
            <a:pPr algn="ctr"/>
            <a:r>
              <a:rPr b="1" sz="2600">
                <a:solidFill>
                  <a:srgbClr val="121216"/>
                </a:solidFill>
                <a:latin typeface="Cambria"/>
              </a:rPr>
              <a:t>PROBLEM STATEMENT</a:t>
            </a:r>
            <a:endParaRPr altLang="en-US" lang="zh-CN"/>
          </a:p>
        </p:txBody>
      </p:sp>
      <p:sp>
        <p:nvSpPr>
          <p:cNvPr id="1048605" name="Rectangle 8"/>
          <p:cNvSpPr/>
          <p:nvPr/>
        </p:nvSpPr>
        <p:spPr>
          <a:xfrm>
            <a:off x="365760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6" name="Rectangle 9"/>
          <p:cNvSpPr/>
          <p:nvPr/>
        </p:nvSpPr>
        <p:spPr>
          <a:xfrm>
            <a:off x="77724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Parallelogram 10"/>
          <p:cNvSpPr/>
          <p:nvPr/>
        </p:nvSpPr>
        <p:spPr>
          <a:xfrm>
            <a:off x="310896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8" name="Parallelogram 11"/>
          <p:cNvSpPr/>
          <p:nvPr/>
        </p:nvSpPr>
        <p:spPr>
          <a:xfrm>
            <a:off x="11475720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9" name="Rectangle 12"/>
          <p:cNvSpPr/>
          <p:nvPr/>
        </p:nvSpPr>
        <p:spPr>
          <a:xfrm>
            <a:off x="982980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0" name="Rectangle 13"/>
          <p:cNvSpPr/>
          <p:nvPr/>
        </p:nvSpPr>
        <p:spPr>
          <a:xfrm>
            <a:off x="11311128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1" name="Oval 14"/>
          <p:cNvSpPr/>
          <p:nvPr/>
        </p:nvSpPr>
        <p:spPr>
          <a:xfrm>
            <a:off x="5852160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2" name="Oval 15"/>
          <p:cNvSpPr/>
          <p:nvPr/>
        </p:nvSpPr>
        <p:spPr>
          <a:xfrm>
            <a:off x="6016752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3" name="Oval 16"/>
          <p:cNvSpPr/>
          <p:nvPr/>
        </p:nvSpPr>
        <p:spPr>
          <a:xfrm>
            <a:off x="6181344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4" name="TextBox 17"/>
          <p:cNvSpPr txBox="1"/>
          <p:nvPr/>
        </p:nvSpPr>
        <p:spPr>
          <a:xfrm>
            <a:off x="566928" y="6133338"/>
            <a:ext cx="1485722" cy="205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850">
                <a:solidFill>
                  <a:srgbClr val="121216"/>
                </a:solidFill>
                <a:latin typeface="Aptos"/>
              </a:rPr>
              <a:t>PLUS QISKIT FALL FEST 2026</a:t>
            </a:r>
          </a:p>
        </p:txBody>
      </p:sp>
      <p:sp>
        <p:nvSpPr>
          <p:cNvPr id="1048615" name="TextBox 18"/>
          <p:cNvSpPr txBox="1"/>
          <p:nvPr/>
        </p:nvSpPr>
        <p:spPr>
          <a:xfrm>
            <a:off x="11018520" y="6126988"/>
            <a:ext cx="309880" cy="218440"/>
          </a:xfrm>
          <a:prstGeom prst="rect"/>
          <a:noFill/>
        </p:spPr>
        <p:txBody>
          <a:bodyPr anchor="ctr" wrap="none">
            <a:spAutoFit/>
          </a:bodyPr>
          <a:p>
            <a:pPr algn="r"/>
            <a:r>
              <a:rPr b="0" sz="900">
                <a:solidFill>
                  <a:srgbClr val="121216"/>
                </a:solidFill>
                <a:latin typeface="Aptos"/>
              </a:rPr>
              <a:t>02</a:t>
            </a:r>
          </a:p>
        </p:txBody>
      </p:sp>
      <p:sp>
        <p:nvSpPr>
          <p:cNvPr id="2097156" name="TextBox 2097155"/>
          <p:cNvSpPr txBox="1"/>
          <p:nvPr/>
        </p:nvSpPr>
        <p:spPr>
          <a:xfrm>
            <a:off x="1097280" y="1261872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5E5E6A"/>
                </a:solidFill>
                <a:latin typeface="Cambria"/>
              </a:rPr>
              <a:t>Without GNSS, a drone's inertial position drifts without bound.</a:t>
            </a:r>
          </a:p>
        </p:txBody>
      </p:sp>
      <p:sp>
        <p:nvSpPr>
          <p:cNvPr id="2097157" name="Rectangle 2097156"/>
          <p:cNvSpPr/>
          <p:nvPr/>
        </p:nvSpPr>
        <p:spPr>
          <a:xfrm>
            <a:off x="640080" y="1783080"/>
            <a:ext cx="4206240" cy="89611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8" name="TextBox 2097157"/>
          <p:cNvSpPr txBox="1"/>
          <p:nvPr/>
        </p:nvSpPr>
        <p:spPr>
          <a:xfrm>
            <a:off x="822960" y="1892807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237A6"/>
                </a:solidFill>
                <a:latin typeface="Cambria"/>
              </a:rPr>
              <a:t>10⁻¹⁶ W</a:t>
            </a:r>
          </a:p>
        </p:txBody>
      </p:sp>
      <p:sp>
        <p:nvSpPr>
          <p:cNvPr id="2097159" name="TextBox 2097158"/>
          <p:cNvSpPr txBox="1"/>
          <p:nvPr/>
        </p:nvSpPr>
        <p:spPr>
          <a:xfrm>
            <a:off x="2331720" y="1874519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E5E6A"/>
                </a:solidFill>
                <a:latin typeface="Calibri"/>
              </a:rPr>
              <a:t>GNSS power at the receiver: weaker than background noise, easily denied by jamming, terrain, tunnels or foliage.</a:t>
            </a:r>
          </a:p>
        </p:txBody>
      </p:sp>
      <p:sp>
        <p:nvSpPr>
          <p:cNvPr id="2097160" name="Rectangle 2097159"/>
          <p:cNvSpPr/>
          <p:nvPr/>
        </p:nvSpPr>
        <p:spPr>
          <a:xfrm>
            <a:off x="640080" y="2807208"/>
            <a:ext cx="4206240" cy="89611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1" name="TextBox 2097160"/>
          <p:cNvSpPr txBox="1"/>
          <p:nvPr/>
        </p:nvSpPr>
        <p:spPr>
          <a:xfrm>
            <a:off x="822960" y="2916936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237A6"/>
                </a:solidFill>
                <a:latin typeface="Cambria"/>
              </a:rPr>
              <a:t>~260 m</a:t>
            </a:r>
          </a:p>
        </p:txBody>
      </p:sp>
      <p:sp>
        <p:nvSpPr>
          <p:cNvPr id="2097162" name="TextBox 2097161"/>
          <p:cNvSpPr txBox="1"/>
          <p:nvPr/>
        </p:nvSpPr>
        <p:spPr>
          <a:xfrm>
            <a:off x="2331720" y="289864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E5E6A"/>
                </a:solidFill>
                <a:latin typeface="Calibri"/>
              </a:rPr>
              <a:t>Mean error after 3 min of MEMS-only dead reckoning in our drift model: error grows with t², not t.</a:t>
            </a:r>
          </a:p>
        </p:txBody>
      </p:sp>
      <p:sp>
        <p:nvSpPr>
          <p:cNvPr id="2097163" name="Rectangle 2097162"/>
          <p:cNvSpPr/>
          <p:nvPr/>
        </p:nvSpPr>
        <p:spPr>
          <a:xfrm>
            <a:off x="640080" y="3831336"/>
            <a:ext cx="4206240" cy="89611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TextBox 2097163"/>
          <p:cNvSpPr txBox="1"/>
          <p:nvPr/>
        </p:nvSpPr>
        <p:spPr>
          <a:xfrm>
            <a:off x="822960" y="3941064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237A6"/>
                </a:solidFill>
                <a:latin typeface="Cambria"/>
              </a:rPr>
              <a:t>₹10L+</a:t>
            </a:r>
          </a:p>
        </p:txBody>
      </p:sp>
      <p:sp>
        <p:nvSpPr>
          <p:cNvPr id="2097165" name="TextBox 2097164"/>
          <p:cNvSpPr txBox="1"/>
          <p:nvPr/>
        </p:nvSpPr>
        <p:spPr>
          <a:xfrm>
            <a:off x="2331720" y="39227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E5E6A"/>
                </a:solidFill>
                <a:latin typeface="Calibri"/>
              </a:rPr>
              <a:t>Cost of navigation-grade INS or cold-atom units: too expensive to fit on every tactical drone.</a:t>
            </a:r>
          </a:p>
        </p:txBody>
      </p:sp>
      <p:graphicFrame>
        <p:nvGraphicFramePr>
          <p:cNvPr id="2097166" name="Chart 2097165"/>
          <p:cNvGraphicFramePr>
            <a:graphicFrameLocks noGrp="1"/>
          </p:cNvGraphicFramePr>
          <p:nvPr/>
        </p:nvGraphicFramePr>
        <p:xfrm>
          <a:off x="5120640" y="1691640"/>
          <a:ext cx="6492240" cy="2926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97167" name="Rectangle 2097166"/>
          <p:cNvSpPr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8" name="TextBox 2097167"/>
          <p:cNvSpPr txBox="1"/>
          <p:nvPr/>
        </p:nvSpPr>
        <p:spPr>
          <a:xfrm>
            <a:off x="868680" y="4901184"/>
            <a:ext cx="10515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A145E"/>
                </a:solidFill>
                <a:latin typeface="Cambria"/>
              </a:rPr>
              <a:t>Problem: </a:t>
            </a:r>
            <a:r>
              <a:rPr sz="1250" b="0" i="0">
                <a:solidFill>
                  <a:srgbClr val="121216"/>
                </a:solidFill>
                <a:latin typeface="Cambria"/>
              </a:rPr>
              <a:t>give a defence UAV a position it can trust within metres when GNSS disappears, with a passive (non-emitting), low-cost payload that is ready to take a quantum magnetometer, as UC-085 and the iDEX passive quantum positioning challenge call for.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" name=""/>
        <p:cNvGrpSpPr/>
        <p:nvPr/>
      </p:nvGrpSpPr>
      <p:grpSpPr>
        <a:xfrm/>
      </p:grpSpPr>
      <p:pic>
        <p:nvPicPr>
          <p:cNvPr id="2097156" name="Picture 1" descr="rgukt_clea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8912" y="292608"/>
            <a:ext cx="473583" cy="585216"/>
          </a:xfrm>
          <a:prstGeom prst="rect"/>
        </p:spPr>
      </p:pic>
      <p:pic>
        <p:nvPicPr>
          <p:cNvPr id="2097157" name="Picture 2" descr="qiskit_clea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716768" y="246888"/>
            <a:ext cx="694944" cy="694944"/>
          </a:xfrm>
          <a:prstGeom prst="rect"/>
        </p:spPr>
      </p:pic>
      <p:sp>
        <p:nvSpPr>
          <p:cNvPr id="1048616" name="TextBox 3"/>
          <p:cNvSpPr txBox="1"/>
          <p:nvPr/>
        </p:nvSpPr>
        <p:spPr>
          <a:xfrm>
            <a:off x="2818790" y="585216"/>
            <a:ext cx="6834836" cy="561340"/>
          </a:xfrm>
          <a:prstGeom prst="rect"/>
          <a:noFill/>
        </p:spPr>
        <p:txBody>
          <a:bodyPr anchor="ctr" wrap="square">
            <a:spAutoFit/>
          </a:bodyPr>
          <a:p>
            <a:pPr algn="ctr"/>
            <a:r>
              <a:rPr b="1" sz="2600">
                <a:solidFill>
                  <a:srgbClr val="121216"/>
                </a:solidFill>
                <a:latin typeface="Cambria"/>
              </a:rPr>
              <a:t>PROPOSED SOLUTION</a:t>
            </a:r>
            <a:endParaRPr altLang="en-US" lang="zh-CN"/>
          </a:p>
        </p:txBody>
      </p:sp>
      <p:sp>
        <p:nvSpPr>
          <p:cNvPr id="1048621" name="Rectangle 8"/>
          <p:cNvSpPr/>
          <p:nvPr/>
        </p:nvSpPr>
        <p:spPr>
          <a:xfrm>
            <a:off x="365760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Rectangle 9"/>
          <p:cNvSpPr/>
          <p:nvPr/>
        </p:nvSpPr>
        <p:spPr>
          <a:xfrm>
            <a:off x="77724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3" name="Parallelogram 10"/>
          <p:cNvSpPr/>
          <p:nvPr/>
        </p:nvSpPr>
        <p:spPr>
          <a:xfrm>
            <a:off x="310896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4" name="Parallelogram 11"/>
          <p:cNvSpPr/>
          <p:nvPr/>
        </p:nvSpPr>
        <p:spPr>
          <a:xfrm>
            <a:off x="11475720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Rectangle 12"/>
          <p:cNvSpPr/>
          <p:nvPr/>
        </p:nvSpPr>
        <p:spPr>
          <a:xfrm>
            <a:off x="982980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6" name="Rectangle 13"/>
          <p:cNvSpPr/>
          <p:nvPr/>
        </p:nvSpPr>
        <p:spPr>
          <a:xfrm>
            <a:off x="11311128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7" name="Oval 14"/>
          <p:cNvSpPr/>
          <p:nvPr/>
        </p:nvSpPr>
        <p:spPr>
          <a:xfrm>
            <a:off x="5852160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8" name="Oval 15"/>
          <p:cNvSpPr/>
          <p:nvPr/>
        </p:nvSpPr>
        <p:spPr>
          <a:xfrm>
            <a:off x="6016752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9" name="Oval 16"/>
          <p:cNvSpPr/>
          <p:nvPr/>
        </p:nvSpPr>
        <p:spPr>
          <a:xfrm>
            <a:off x="6181344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0" name="TextBox 17"/>
          <p:cNvSpPr txBox="1"/>
          <p:nvPr/>
        </p:nvSpPr>
        <p:spPr>
          <a:xfrm>
            <a:off x="566928" y="6133338"/>
            <a:ext cx="1485722" cy="205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850">
                <a:solidFill>
                  <a:srgbClr val="121216"/>
                </a:solidFill>
                <a:latin typeface="Aptos"/>
              </a:rPr>
              <a:t>PLUS QISKIT FALL FEST 2026</a:t>
            </a:r>
          </a:p>
        </p:txBody>
      </p:sp>
      <p:sp>
        <p:nvSpPr>
          <p:cNvPr id="1048631" name="TextBox 18"/>
          <p:cNvSpPr txBox="1"/>
          <p:nvPr/>
        </p:nvSpPr>
        <p:spPr>
          <a:xfrm>
            <a:off x="11018520" y="6126988"/>
            <a:ext cx="309880" cy="218440"/>
          </a:xfrm>
          <a:prstGeom prst="rect"/>
          <a:noFill/>
        </p:spPr>
        <p:txBody>
          <a:bodyPr anchor="ctr" wrap="none">
            <a:spAutoFit/>
          </a:bodyPr>
          <a:p>
            <a:pPr algn="r"/>
            <a:r>
              <a:rPr b="0" sz="900">
                <a:solidFill>
                  <a:srgbClr val="121216"/>
                </a:solidFill>
                <a:latin typeface="Aptos"/>
              </a:rPr>
              <a:t>03</a:t>
            </a:r>
          </a:p>
        </p:txBody>
      </p:sp>
      <p:sp>
        <p:nvSpPr>
          <p:cNvPr id="2097158" name="TextBox 2097157"/>
          <p:cNvSpPr txBox="1"/>
          <p:nvPr/>
        </p:nvSpPr>
        <p:spPr>
          <a:xfrm>
            <a:off x="1097280" y="1261872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5E5E6A"/>
                </a:solidFill>
                <a:latin typeface="Cambria"/>
              </a:rPr>
              <a:t>VOID-NAV: a passive quantum PNT payload. The drone carries it; the payload does the navigation.</a:t>
            </a:r>
          </a:p>
        </p:txBody>
      </p:sp>
      <p:pic>
        <p:nvPicPr>
          <p:cNvPr id="2097159" name="Picture 2097158" descr="dr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783080"/>
            <a:ext cx="5852160" cy="3511296"/>
          </a:xfrm>
          <a:prstGeom prst="rect">
            <a:avLst/>
          </a:prstGeom>
        </p:spPr>
      </p:pic>
      <p:sp>
        <p:nvSpPr>
          <p:cNvPr id="2097160" name="Oval 2097159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F23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2097161" name="Connector 2097160"/>
          <p:cNvCxnSpPr/>
          <p:nvPr/>
        </p:nvCxnSpPr>
        <p:spPr>
          <a:xfrm>
            <a:off x="6766560" y="2313432"/>
            <a:ext cx="0" cy="429768"/>
          </a:xfrm>
          <a:prstGeom prst="line">
            <a:avLst/>
          </a:prstGeom>
          <a:ln w="15875">
            <a:solidFill>
              <a:srgbClr val="F237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62" name="TextBox 2097161"/>
          <p:cNvSpPr txBox="1"/>
          <p:nvPr/>
        </p:nvSpPr>
        <p:spPr>
          <a:xfrm>
            <a:off x="7178040" y="178308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216"/>
                </a:solidFill>
                <a:latin typeface="Cambria"/>
              </a:rPr>
              <a:t>Map</a:t>
            </a:r>
          </a:p>
        </p:txBody>
      </p:sp>
      <p:sp>
        <p:nvSpPr>
          <p:cNvPr id="2097163" name="TextBox 2097162"/>
          <p:cNvSpPr txBox="1"/>
          <p:nvPr/>
        </p:nvSpPr>
        <p:spPr>
          <a:xfrm>
            <a:off x="7178040" y="2084831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E5E6A"/>
                </a:solidFill>
                <a:latin typeface="Calibri"/>
              </a:rPr>
              <a:t>GPS on: fly or walk the area once and log a 5-D magnetic fingerprint [Bx, By, Bz, |B|, ∇B] per 2 m cell.</a:t>
            </a:r>
          </a:p>
        </p:txBody>
      </p:sp>
      <p:sp>
        <p:nvSpPr>
          <p:cNvPr id="2097164" name="Oval 2097163"/>
          <p:cNvSpPr/>
          <p:nvPr/>
        </p:nvSpPr>
        <p:spPr>
          <a:xfrm>
            <a:off x="6537960" y="2770632"/>
            <a:ext cx="457200" cy="457200"/>
          </a:xfrm>
          <a:prstGeom prst="ellipse">
            <a:avLst/>
          </a:prstGeom>
          <a:solidFill>
            <a:srgbClr val="F23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2097165" name="Connector 2097164"/>
          <p:cNvCxnSpPr/>
          <p:nvPr/>
        </p:nvCxnSpPr>
        <p:spPr>
          <a:xfrm>
            <a:off x="6766560" y="3255264"/>
            <a:ext cx="0" cy="429768"/>
          </a:xfrm>
          <a:prstGeom prst="line">
            <a:avLst/>
          </a:prstGeom>
          <a:ln w="15875">
            <a:solidFill>
              <a:srgbClr val="F237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66" name="TextBox 2097165"/>
          <p:cNvSpPr txBox="1"/>
          <p:nvPr/>
        </p:nvSpPr>
        <p:spPr>
          <a:xfrm>
            <a:off x="7178040" y="2724912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216"/>
                </a:solidFill>
                <a:latin typeface="Cambria"/>
              </a:rPr>
              <a:t>Sense</a:t>
            </a:r>
          </a:p>
        </p:txBody>
      </p:sp>
      <p:sp>
        <p:nvSpPr>
          <p:cNvPr id="2097167" name="TextBox 2097166"/>
          <p:cNvSpPr txBox="1"/>
          <p:nvPr/>
        </p:nvSpPr>
        <p:spPr>
          <a:xfrm>
            <a:off x="7178040" y="3026664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E5E6A"/>
                </a:solidFill>
                <a:latin typeface="Calibri"/>
              </a:rPr>
              <a:t>GPS off: the magnetometer, IMU, optical flow and barometer track motion; the magnetic field is read as a short window.</a:t>
            </a:r>
          </a:p>
        </p:txBody>
      </p:sp>
      <p:sp>
        <p:nvSpPr>
          <p:cNvPr id="2097168" name="Oval 2097167"/>
          <p:cNvSpPr/>
          <p:nvPr/>
        </p:nvSpPr>
        <p:spPr>
          <a:xfrm>
            <a:off x="6537960" y="3712463"/>
            <a:ext cx="457200" cy="457200"/>
          </a:xfrm>
          <a:prstGeom prst="ellipse">
            <a:avLst/>
          </a:prstGeom>
          <a:solidFill>
            <a:srgbClr val="F23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2097169" name="Connector 2097168"/>
          <p:cNvCxnSpPr/>
          <p:nvPr/>
        </p:nvCxnSpPr>
        <p:spPr>
          <a:xfrm>
            <a:off x="6766560" y="4197096"/>
            <a:ext cx="0" cy="429768"/>
          </a:xfrm>
          <a:prstGeom prst="line">
            <a:avLst/>
          </a:prstGeom>
          <a:ln w="15875">
            <a:solidFill>
              <a:srgbClr val="F237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70" name="TextBox 2097169"/>
          <p:cNvSpPr txBox="1"/>
          <p:nvPr/>
        </p:nvSpPr>
        <p:spPr>
          <a:xfrm>
            <a:off x="7178040" y="366674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216"/>
                </a:solidFill>
                <a:latin typeface="Cambria"/>
              </a:rPr>
              <a:t>Match</a:t>
            </a:r>
          </a:p>
        </p:txBody>
      </p:sp>
      <p:sp>
        <p:nvSpPr>
          <p:cNvPr id="2097171" name="TextBox 2097170"/>
          <p:cNvSpPr txBox="1"/>
          <p:nvPr/>
        </p:nvSpPr>
        <p:spPr>
          <a:xfrm>
            <a:off x="7178040" y="3968496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E5E6A"/>
                </a:solidFill>
                <a:latin typeface="Calibri"/>
              </a:rPr>
              <a:t>Quantum engine: Grover's search finds candidate cells, the quantum kernel SVM confirms the zone.</a:t>
            </a:r>
          </a:p>
        </p:txBody>
      </p:sp>
      <p:sp>
        <p:nvSpPr>
          <p:cNvPr id="2097172" name="Oval 2097171"/>
          <p:cNvSpPr/>
          <p:nvPr/>
        </p:nvSpPr>
        <p:spPr>
          <a:xfrm>
            <a:off x="6537960" y="4654296"/>
            <a:ext cx="457200" cy="457200"/>
          </a:xfrm>
          <a:prstGeom prst="ellipse">
            <a:avLst/>
          </a:prstGeom>
          <a:solidFill>
            <a:srgbClr val="F23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97173" name="TextBox 2097172"/>
          <p:cNvSpPr txBox="1"/>
          <p:nvPr/>
        </p:nvSpPr>
        <p:spPr>
          <a:xfrm>
            <a:off x="7178040" y="460857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216"/>
                </a:solidFill>
                <a:latin typeface="Cambria"/>
              </a:rPr>
              <a:t>Correct</a:t>
            </a:r>
          </a:p>
        </p:txBody>
      </p:sp>
      <p:sp>
        <p:nvSpPr>
          <p:cNvPr id="2097174" name="TextBox 2097173"/>
          <p:cNvSpPr txBox="1"/>
          <p:nvPr/>
        </p:nvSpPr>
        <p:spPr>
          <a:xfrm>
            <a:off x="7178040" y="4910328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E5E6A"/>
                </a:solidFill>
                <a:latin typeface="Calibri"/>
              </a:rPr>
              <a:t>A particle filter fuses the match with dead reckoning, resets IMU drift and sends position + confidence to the autopilot.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" name=""/>
        <p:cNvGrpSpPr/>
        <p:nvPr/>
      </p:nvGrpSpPr>
      <p:grpSpPr>
        <a:xfrm/>
      </p:grpSpPr>
      <p:pic>
        <p:nvPicPr>
          <p:cNvPr id="2097158" name="Picture 1" descr="rgukt_clea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8912" y="292608"/>
            <a:ext cx="473583" cy="585216"/>
          </a:xfrm>
          <a:prstGeom prst="rect"/>
        </p:spPr>
      </p:pic>
      <p:pic>
        <p:nvPicPr>
          <p:cNvPr id="2097159" name="Picture 2" descr="qiskit_clea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716768" y="246888"/>
            <a:ext cx="694944" cy="694944"/>
          </a:xfrm>
          <a:prstGeom prst="rect"/>
        </p:spPr>
      </p:pic>
      <p:sp>
        <p:nvSpPr>
          <p:cNvPr id="1048632" name="TextBox 3"/>
          <p:cNvSpPr txBox="1"/>
          <p:nvPr/>
        </p:nvSpPr>
        <p:spPr>
          <a:xfrm>
            <a:off x="1689107" y="585215"/>
            <a:ext cx="8326106" cy="561340"/>
          </a:xfrm>
          <a:prstGeom prst="rect"/>
          <a:noFill/>
        </p:spPr>
        <p:txBody>
          <a:bodyPr anchor="ctr" wrap="square">
            <a:spAutoFit/>
          </a:bodyPr>
          <a:p>
            <a:pPr algn="ctr"/>
            <a:r>
              <a:rPr b="1" sz="2600">
                <a:solidFill>
                  <a:srgbClr val="121216"/>
                </a:solidFill>
                <a:latin typeface="Cambria"/>
              </a:rPr>
              <a:t>INNOVATION &amp; UNIQUENESS</a:t>
            </a:r>
            <a:endParaRPr altLang="en-US" lang="zh-CN"/>
          </a:p>
        </p:txBody>
      </p:sp>
      <p:sp>
        <p:nvSpPr>
          <p:cNvPr id="1048637" name="Rectangle 8"/>
          <p:cNvSpPr/>
          <p:nvPr/>
        </p:nvSpPr>
        <p:spPr>
          <a:xfrm>
            <a:off x="365760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8" name="Rectangle 9"/>
          <p:cNvSpPr/>
          <p:nvPr/>
        </p:nvSpPr>
        <p:spPr>
          <a:xfrm>
            <a:off x="77724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9" name="Parallelogram 10"/>
          <p:cNvSpPr/>
          <p:nvPr/>
        </p:nvSpPr>
        <p:spPr>
          <a:xfrm>
            <a:off x="310896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0" name="Parallelogram 11"/>
          <p:cNvSpPr/>
          <p:nvPr/>
        </p:nvSpPr>
        <p:spPr>
          <a:xfrm>
            <a:off x="11475720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1" name="Rectangle 12"/>
          <p:cNvSpPr/>
          <p:nvPr/>
        </p:nvSpPr>
        <p:spPr>
          <a:xfrm>
            <a:off x="982980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Rectangle 13"/>
          <p:cNvSpPr/>
          <p:nvPr/>
        </p:nvSpPr>
        <p:spPr>
          <a:xfrm>
            <a:off x="11311128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3" name="Oval 14"/>
          <p:cNvSpPr/>
          <p:nvPr/>
        </p:nvSpPr>
        <p:spPr>
          <a:xfrm>
            <a:off x="5852160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4" name="Oval 15"/>
          <p:cNvSpPr/>
          <p:nvPr/>
        </p:nvSpPr>
        <p:spPr>
          <a:xfrm>
            <a:off x="6016752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5" name="Oval 16"/>
          <p:cNvSpPr/>
          <p:nvPr/>
        </p:nvSpPr>
        <p:spPr>
          <a:xfrm>
            <a:off x="6181344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6" name="TextBox 17"/>
          <p:cNvSpPr txBox="1"/>
          <p:nvPr/>
        </p:nvSpPr>
        <p:spPr>
          <a:xfrm>
            <a:off x="566928" y="6133338"/>
            <a:ext cx="1485722" cy="205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850">
                <a:solidFill>
                  <a:srgbClr val="121216"/>
                </a:solidFill>
                <a:latin typeface="Aptos"/>
              </a:rPr>
              <a:t>PLUS QISKIT FALL FEST 2026</a:t>
            </a:r>
          </a:p>
        </p:txBody>
      </p:sp>
      <p:sp>
        <p:nvSpPr>
          <p:cNvPr id="1048647" name="TextBox 18"/>
          <p:cNvSpPr txBox="1"/>
          <p:nvPr/>
        </p:nvSpPr>
        <p:spPr>
          <a:xfrm>
            <a:off x="11018520" y="6126988"/>
            <a:ext cx="309880" cy="218440"/>
          </a:xfrm>
          <a:prstGeom prst="rect"/>
          <a:noFill/>
        </p:spPr>
        <p:txBody>
          <a:bodyPr anchor="ctr" wrap="none">
            <a:spAutoFit/>
          </a:bodyPr>
          <a:p>
            <a:pPr algn="r"/>
            <a:r>
              <a:rPr b="0" sz="900">
                <a:solidFill>
                  <a:srgbClr val="121216"/>
                </a:solidFill>
                <a:latin typeface="Aptos"/>
              </a:rPr>
              <a:t>04</a:t>
            </a:r>
          </a:p>
        </p:txBody>
      </p:sp>
      <p:sp>
        <p:nvSpPr>
          <p:cNvPr id="2097160" name="TextBox 2097159"/>
          <p:cNvSpPr txBox="1"/>
          <p:nvPr/>
        </p:nvSpPr>
        <p:spPr>
          <a:xfrm>
            <a:off x="1097280" y="1261872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5E5E6A"/>
                </a:solidFill>
                <a:latin typeface="Cambria"/>
              </a:rPr>
              <a:t>Most entries show one quantum algorithm. VOID-NAV runs a complete quantum PNT pipeline.</a:t>
            </a:r>
          </a:p>
        </p:txBody>
      </p:sp>
      <p:sp>
        <p:nvSpPr>
          <p:cNvPr id="2097161" name="Rectangle 2097160"/>
          <p:cNvSpPr/>
          <p:nvPr/>
        </p:nvSpPr>
        <p:spPr>
          <a:xfrm>
            <a:off x="640080" y="1737360"/>
            <a:ext cx="3520440" cy="14630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2" name="TextBox 2097161"/>
          <p:cNvSpPr txBox="1"/>
          <p:nvPr/>
        </p:nvSpPr>
        <p:spPr>
          <a:xfrm>
            <a:off x="804671" y="1874519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01 · FULL STACK</a:t>
            </a:r>
          </a:p>
        </p:txBody>
      </p:sp>
      <p:sp>
        <p:nvSpPr>
          <p:cNvPr id="2097163" name="TextBox 2097162"/>
          <p:cNvSpPr txBox="1"/>
          <p:nvPr/>
        </p:nvSpPr>
        <p:spPr>
          <a:xfrm>
            <a:off x="804671" y="2103120"/>
            <a:ext cx="31912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6"/>
                </a:solidFill>
                <a:latin typeface="Cambria"/>
              </a:rPr>
              <a:t>Sense, search, learn, plan</a:t>
            </a:r>
          </a:p>
        </p:txBody>
      </p:sp>
      <p:sp>
        <p:nvSpPr>
          <p:cNvPr id="2097164" name="TextBox 2097163"/>
          <p:cNvSpPr txBox="1"/>
          <p:nvPr/>
        </p:nvSpPr>
        <p:spPr>
          <a:xfrm>
            <a:off x="804671" y="2450591"/>
            <a:ext cx="31912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E5E6A"/>
                </a:solidFill>
                <a:latin typeface="Calibri"/>
              </a:rPr>
              <a:t>Quantum sensing, Grover's search, quantum-kernel ML and QAOA each do a distinct job in one navigation loop.</a:t>
            </a:r>
          </a:p>
        </p:txBody>
      </p:sp>
      <p:sp>
        <p:nvSpPr>
          <p:cNvPr id="2097165" name="Rectangle 2097164"/>
          <p:cNvSpPr/>
          <p:nvPr/>
        </p:nvSpPr>
        <p:spPr>
          <a:xfrm>
            <a:off x="4343400" y="1737360"/>
            <a:ext cx="3520440" cy="14630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6" name="TextBox 2097165"/>
          <p:cNvSpPr txBox="1"/>
          <p:nvPr/>
        </p:nvSpPr>
        <p:spPr>
          <a:xfrm>
            <a:off x="4507992" y="1874519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02 · RICHER FINGERPRINT</a:t>
            </a:r>
          </a:p>
        </p:txBody>
      </p:sp>
      <p:sp>
        <p:nvSpPr>
          <p:cNvPr id="2097167" name="TextBox 2097166"/>
          <p:cNvSpPr txBox="1"/>
          <p:nvPr/>
        </p:nvSpPr>
        <p:spPr>
          <a:xfrm>
            <a:off x="4507992" y="2103120"/>
            <a:ext cx="31912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6"/>
                </a:solidFill>
                <a:latin typeface="Cambria"/>
              </a:rPr>
              <a:t>5-D magnetic gradient map</a:t>
            </a:r>
          </a:p>
        </p:txBody>
      </p:sp>
      <p:sp>
        <p:nvSpPr>
          <p:cNvPr id="2097168" name="TextBox 2097167"/>
          <p:cNvSpPr txBox="1"/>
          <p:nvPr/>
        </p:nvSpPr>
        <p:spPr>
          <a:xfrm>
            <a:off x="4507992" y="2450591"/>
            <a:ext cx="31912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E5E6A"/>
                </a:solidFill>
                <a:latin typeface="Calibri"/>
              </a:rPr>
              <a:t>We match the spatial pattern [Bx, By, Bz, |B|, ∇B], not a single field value, which cuts false matches sharply.</a:t>
            </a:r>
          </a:p>
        </p:txBody>
      </p:sp>
      <p:sp>
        <p:nvSpPr>
          <p:cNvPr id="2097169" name="Rectangle 2097168"/>
          <p:cNvSpPr/>
          <p:nvPr/>
        </p:nvSpPr>
        <p:spPr>
          <a:xfrm>
            <a:off x="8046719" y="1737360"/>
            <a:ext cx="3520440" cy="14630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0" name="TextBox 2097169"/>
          <p:cNvSpPr txBox="1"/>
          <p:nvPr/>
        </p:nvSpPr>
        <p:spPr>
          <a:xfrm>
            <a:off x="8211311" y="1874519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03 · QUANTUM CROSS-CHECK</a:t>
            </a:r>
          </a:p>
        </p:txBody>
      </p:sp>
      <p:sp>
        <p:nvSpPr>
          <p:cNvPr id="2097171" name="TextBox 2097170"/>
          <p:cNvSpPr txBox="1"/>
          <p:nvPr/>
        </p:nvSpPr>
        <p:spPr>
          <a:xfrm>
            <a:off x="8211311" y="2103120"/>
            <a:ext cx="31912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6"/>
                </a:solidFill>
                <a:latin typeface="Cambria"/>
              </a:rPr>
              <a:t>Grover proposes, QSVM decides</a:t>
            </a:r>
          </a:p>
        </p:txBody>
      </p:sp>
      <p:sp>
        <p:nvSpPr>
          <p:cNvPr id="2097172" name="TextBox 2097171"/>
          <p:cNvSpPr txBox="1"/>
          <p:nvPr/>
        </p:nvSpPr>
        <p:spPr>
          <a:xfrm>
            <a:off x="8211311" y="2450591"/>
            <a:ext cx="31912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E5E6A"/>
                </a:solidFill>
                <a:latin typeface="Calibri"/>
              </a:rPr>
              <a:t>In our run Grover returned two look-alike cells (0110, 1011); the QSVM zone label resolved the tie.</a:t>
            </a:r>
          </a:p>
        </p:txBody>
      </p:sp>
      <p:sp>
        <p:nvSpPr>
          <p:cNvPr id="2097173" name="Rectangle 2097172"/>
          <p:cNvSpPr/>
          <p:nvPr/>
        </p:nvSpPr>
        <p:spPr>
          <a:xfrm>
            <a:off x="640080" y="3337560"/>
            <a:ext cx="3520440" cy="14630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4" name="TextBox 2097173"/>
          <p:cNvSpPr txBox="1"/>
          <p:nvPr/>
        </p:nvSpPr>
        <p:spPr>
          <a:xfrm>
            <a:off x="804671" y="3474720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04 · QUANTUM-SENSOR READY</a:t>
            </a:r>
          </a:p>
        </p:txBody>
      </p:sp>
      <p:sp>
        <p:nvSpPr>
          <p:cNvPr id="2097175" name="TextBox 2097174"/>
          <p:cNvSpPr txBox="1"/>
          <p:nvPr/>
        </p:nvSpPr>
        <p:spPr>
          <a:xfrm>
            <a:off x="804671" y="3703320"/>
            <a:ext cx="31912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6"/>
                </a:solidFill>
                <a:latin typeface="Cambria"/>
              </a:rPr>
              <a:t>Drop-in NV-diamond slot</a:t>
            </a:r>
          </a:p>
        </p:txBody>
      </p:sp>
      <p:sp>
        <p:nvSpPr>
          <p:cNvPr id="2097176" name="TextBox 2097175"/>
          <p:cNvSpPr txBox="1"/>
          <p:nvPr/>
        </p:nvSpPr>
        <p:spPr>
          <a:xfrm>
            <a:off x="804671" y="4050791"/>
            <a:ext cx="31912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E5E6A"/>
                </a:solidFill>
                <a:latin typeface="Calibri"/>
              </a:rPr>
              <a:t>Same data interface as an NV magnetometer; we simulate its Ramsey readout today to quantify the upgrade.</a:t>
            </a:r>
          </a:p>
        </p:txBody>
      </p:sp>
      <p:sp>
        <p:nvSpPr>
          <p:cNvPr id="2097177" name="Rectangle 2097176"/>
          <p:cNvSpPr/>
          <p:nvPr/>
        </p:nvSpPr>
        <p:spPr>
          <a:xfrm>
            <a:off x="4343400" y="3337560"/>
            <a:ext cx="3520440" cy="14630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8" name="TextBox 2097177"/>
          <p:cNvSpPr txBox="1"/>
          <p:nvPr/>
        </p:nvSpPr>
        <p:spPr>
          <a:xfrm>
            <a:off x="4507992" y="3474720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05 · MAGNETICALLY AWARE ROUTES</a:t>
            </a:r>
          </a:p>
        </p:txBody>
      </p:sp>
      <p:sp>
        <p:nvSpPr>
          <p:cNvPr id="2097179" name="TextBox 2097178"/>
          <p:cNvSpPr txBox="1"/>
          <p:nvPr/>
        </p:nvSpPr>
        <p:spPr>
          <a:xfrm>
            <a:off x="4507992" y="3703320"/>
            <a:ext cx="31912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6"/>
                </a:solidFill>
                <a:latin typeface="Cambria"/>
              </a:rPr>
              <a:t>QAOA path planning</a:t>
            </a:r>
          </a:p>
        </p:txBody>
      </p:sp>
      <p:sp>
        <p:nvSpPr>
          <p:cNvPr id="2097180" name="TextBox 2097179"/>
          <p:cNvSpPr txBox="1"/>
          <p:nvPr/>
        </p:nvSpPr>
        <p:spPr>
          <a:xfrm>
            <a:off x="4507992" y="4050791"/>
            <a:ext cx="31912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E5E6A"/>
                </a:solidFill>
                <a:latin typeface="Calibri"/>
              </a:rPr>
              <a:t>Chooses waypoints through magnetically rich cells so the drone gets more position fixes per minute.</a:t>
            </a:r>
          </a:p>
        </p:txBody>
      </p:sp>
      <p:sp>
        <p:nvSpPr>
          <p:cNvPr id="2097181" name="Rectangle 2097180"/>
          <p:cNvSpPr/>
          <p:nvPr/>
        </p:nvSpPr>
        <p:spPr>
          <a:xfrm>
            <a:off x="8046719" y="3337560"/>
            <a:ext cx="3520440" cy="14630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2" name="TextBox 2097181"/>
          <p:cNvSpPr txBox="1"/>
          <p:nvPr/>
        </p:nvSpPr>
        <p:spPr>
          <a:xfrm>
            <a:off x="8211311" y="3474720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06 · DEPLOYABLE</a:t>
            </a:r>
          </a:p>
        </p:txBody>
      </p:sp>
      <p:sp>
        <p:nvSpPr>
          <p:cNvPr id="2097183" name="TextBox 2097182"/>
          <p:cNvSpPr txBox="1"/>
          <p:nvPr/>
        </p:nvSpPr>
        <p:spPr>
          <a:xfrm>
            <a:off x="8211311" y="3703320"/>
            <a:ext cx="31912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6"/>
                </a:solidFill>
                <a:latin typeface="Cambria"/>
              </a:rPr>
              <a:t>Passive, retrofit, low cost</a:t>
            </a:r>
          </a:p>
        </p:txBody>
      </p:sp>
      <p:sp>
        <p:nvSpPr>
          <p:cNvPr id="2097184" name="TextBox 2097183"/>
          <p:cNvSpPr txBox="1"/>
          <p:nvPr/>
        </p:nvSpPr>
        <p:spPr>
          <a:xfrm>
            <a:off x="8211311" y="4050791"/>
            <a:ext cx="31912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E5E6A"/>
                </a:solidFill>
                <a:latin typeface="Calibri"/>
              </a:rPr>
              <a:t>Emits nothing, speaks MAVLink to any ArduPilot/PX4 drone, prototype under ₹8,000 in parts.</a:t>
            </a:r>
          </a:p>
        </p:txBody>
      </p:sp>
      <p:sp>
        <p:nvSpPr>
          <p:cNvPr id="2097185" name="Rectangle 2097184"/>
          <p:cNvSpPr/>
          <p:nvPr/>
        </p:nvSpPr>
        <p:spPr>
          <a:xfrm>
            <a:off x="640080" y="4983480"/>
            <a:ext cx="1920240" cy="566928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6" name="TextBox 2097185"/>
          <p:cNvSpPr txBox="1"/>
          <p:nvPr/>
        </p:nvSpPr>
        <p:spPr>
          <a:xfrm>
            <a:off x="640080" y="5020056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 spc="150">
                <a:solidFill>
                  <a:srgbClr val="F9A8D8"/>
                </a:solidFill>
                <a:latin typeface="Consolas"/>
              </a:rPr>
              <a:t>SENSE</a:t>
            </a:r>
          </a:p>
        </p:txBody>
      </p:sp>
      <p:sp>
        <p:nvSpPr>
          <p:cNvPr id="2097187" name="TextBox 2097186"/>
          <p:cNvSpPr txBox="1"/>
          <p:nvPr/>
        </p:nvSpPr>
        <p:spPr>
          <a:xfrm>
            <a:off x="640080" y="52395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Ramsey + IPE</a:t>
            </a:r>
          </a:p>
        </p:txBody>
      </p:sp>
      <p:cxnSp>
        <p:nvCxnSpPr>
          <p:cNvPr id="2097188" name="Connector 2097187"/>
          <p:cNvCxnSpPr/>
          <p:nvPr/>
        </p:nvCxnSpPr>
        <p:spPr>
          <a:xfrm>
            <a:off x="2578608" y="5266944"/>
            <a:ext cx="292607" cy="0"/>
          </a:xfrm>
          <a:prstGeom prst="line">
            <a:avLst/>
          </a:prstGeom>
          <a:ln w="19050">
            <a:solidFill>
              <a:srgbClr val="F237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89" name="Rectangle 2097188"/>
          <p:cNvSpPr/>
          <p:nvPr/>
        </p:nvSpPr>
        <p:spPr>
          <a:xfrm>
            <a:off x="2889504" y="4983480"/>
            <a:ext cx="1920240" cy="566928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0" name="TextBox 2097189"/>
          <p:cNvSpPr txBox="1"/>
          <p:nvPr/>
        </p:nvSpPr>
        <p:spPr>
          <a:xfrm>
            <a:off x="2889504" y="5020056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 spc="150">
                <a:solidFill>
                  <a:srgbClr val="F9A8D8"/>
                </a:solidFill>
                <a:latin typeface="Consolas"/>
              </a:rPr>
              <a:t>SEARCH</a:t>
            </a:r>
          </a:p>
        </p:txBody>
      </p:sp>
      <p:sp>
        <p:nvSpPr>
          <p:cNvPr id="2097191" name="TextBox 2097190"/>
          <p:cNvSpPr txBox="1"/>
          <p:nvPr/>
        </p:nvSpPr>
        <p:spPr>
          <a:xfrm>
            <a:off x="2889504" y="52395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Grover</a:t>
            </a:r>
          </a:p>
        </p:txBody>
      </p:sp>
      <p:cxnSp>
        <p:nvCxnSpPr>
          <p:cNvPr id="2097192" name="Connector 2097191"/>
          <p:cNvCxnSpPr/>
          <p:nvPr/>
        </p:nvCxnSpPr>
        <p:spPr>
          <a:xfrm>
            <a:off x="4828032" y="5266944"/>
            <a:ext cx="292608" cy="0"/>
          </a:xfrm>
          <a:prstGeom prst="line">
            <a:avLst/>
          </a:prstGeom>
          <a:ln w="19050">
            <a:solidFill>
              <a:srgbClr val="F237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93" name="Rectangle 2097192"/>
          <p:cNvSpPr/>
          <p:nvPr/>
        </p:nvSpPr>
        <p:spPr>
          <a:xfrm>
            <a:off x="5138928" y="4983480"/>
            <a:ext cx="1920240" cy="566928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4" name="TextBox 2097193"/>
          <p:cNvSpPr txBox="1"/>
          <p:nvPr/>
        </p:nvSpPr>
        <p:spPr>
          <a:xfrm>
            <a:off x="5138928" y="5020056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 spc="150">
                <a:solidFill>
                  <a:srgbClr val="F9A8D8"/>
                </a:solidFill>
                <a:latin typeface="Consolas"/>
              </a:rPr>
              <a:t>LEARN</a:t>
            </a:r>
          </a:p>
        </p:txBody>
      </p:sp>
      <p:sp>
        <p:nvSpPr>
          <p:cNvPr id="2097195" name="TextBox 2097194"/>
          <p:cNvSpPr txBox="1"/>
          <p:nvPr/>
        </p:nvSpPr>
        <p:spPr>
          <a:xfrm>
            <a:off x="5138928" y="52395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QSVM</a:t>
            </a:r>
          </a:p>
        </p:txBody>
      </p:sp>
      <p:cxnSp>
        <p:nvCxnSpPr>
          <p:cNvPr id="2097196" name="Connector 2097195"/>
          <p:cNvCxnSpPr/>
          <p:nvPr/>
        </p:nvCxnSpPr>
        <p:spPr>
          <a:xfrm>
            <a:off x="7077456" y="5266944"/>
            <a:ext cx="292608" cy="0"/>
          </a:xfrm>
          <a:prstGeom prst="line">
            <a:avLst/>
          </a:prstGeom>
          <a:ln w="19050">
            <a:solidFill>
              <a:srgbClr val="F237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97" name="Rectangle 2097196"/>
          <p:cNvSpPr/>
          <p:nvPr/>
        </p:nvSpPr>
        <p:spPr>
          <a:xfrm>
            <a:off x="7388352" y="4983480"/>
            <a:ext cx="1920240" cy="566928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8" name="TextBox 2097197"/>
          <p:cNvSpPr txBox="1"/>
          <p:nvPr/>
        </p:nvSpPr>
        <p:spPr>
          <a:xfrm>
            <a:off x="7388352" y="5020056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 spc="150">
                <a:solidFill>
                  <a:srgbClr val="F9A8D8"/>
                </a:solidFill>
                <a:latin typeface="Consolas"/>
              </a:rPr>
              <a:t>PLAN</a:t>
            </a:r>
          </a:p>
        </p:txBody>
      </p:sp>
      <p:sp>
        <p:nvSpPr>
          <p:cNvPr id="2097199" name="TextBox 2097198"/>
          <p:cNvSpPr txBox="1"/>
          <p:nvPr/>
        </p:nvSpPr>
        <p:spPr>
          <a:xfrm>
            <a:off x="7388352" y="52395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QAOA</a:t>
            </a:r>
          </a:p>
        </p:txBody>
      </p:sp>
      <p:cxnSp>
        <p:nvCxnSpPr>
          <p:cNvPr id="2097200" name="Connector 2097199"/>
          <p:cNvCxnSpPr/>
          <p:nvPr/>
        </p:nvCxnSpPr>
        <p:spPr>
          <a:xfrm>
            <a:off x="9326880" y="5266944"/>
            <a:ext cx="292608" cy="0"/>
          </a:xfrm>
          <a:prstGeom prst="line">
            <a:avLst/>
          </a:prstGeom>
          <a:ln w="19050">
            <a:solidFill>
              <a:srgbClr val="F237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201" name="Rectangle 2097200"/>
          <p:cNvSpPr/>
          <p:nvPr/>
        </p:nvSpPr>
        <p:spPr>
          <a:xfrm>
            <a:off x="9637776" y="4983480"/>
            <a:ext cx="1920240" cy="566928"/>
          </a:xfrm>
          <a:prstGeom prst="rect">
            <a:avLst/>
          </a:prstGeom>
          <a:solidFill>
            <a:srgbClr val="F23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02" name="TextBox 2097201"/>
          <p:cNvSpPr txBox="1"/>
          <p:nvPr/>
        </p:nvSpPr>
        <p:spPr>
          <a:xfrm>
            <a:off x="9637776" y="5020056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 spc="150">
                <a:solidFill>
                  <a:srgbClr val="FFFFFF"/>
                </a:solidFill>
                <a:latin typeface="Consolas"/>
              </a:rPr>
              <a:t>FUSE</a:t>
            </a:r>
          </a:p>
        </p:txBody>
      </p:sp>
      <p:sp>
        <p:nvSpPr>
          <p:cNvPr id="2097203" name="TextBox 2097202"/>
          <p:cNvSpPr txBox="1"/>
          <p:nvPr/>
        </p:nvSpPr>
        <p:spPr>
          <a:xfrm>
            <a:off x="9637776" y="52395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Particle filter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8" name=""/>
        <p:cNvGrpSpPr/>
        <p:nvPr/>
      </p:nvGrpSpPr>
      <p:grpSpPr>
        <a:xfrm/>
      </p:grpSpPr>
      <p:pic>
        <p:nvPicPr>
          <p:cNvPr id="2097160" name="Picture 1" descr="rgukt_clea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8912" y="292608"/>
            <a:ext cx="473583" cy="585216"/>
          </a:xfrm>
          <a:prstGeom prst="rect"/>
        </p:spPr>
      </p:pic>
      <p:pic>
        <p:nvPicPr>
          <p:cNvPr id="2097161" name="Picture 2" descr="qiskit_clea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716768" y="246888"/>
            <a:ext cx="694944" cy="694944"/>
          </a:xfrm>
          <a:prstGeom prst="rect"/>
        </p:spPr>
      </p:pic>
      <p:sp>
        <p:nvSpPr>
          <p:cNvPr id="1048648" name="TextBox 3"/>
          <p:cNvSpPr txBox="1"/>
          <p:nvPr/>
        </p:nvSpPr>
        <p:spPr>
          <a:xfrm>
            <a:off x="987191" y="585216"/>
            <a:ext cx="9729577" cy="497840"/>
          </a:xfrm>
          <a:prstGeom prst="rect"/>
          <a:noFill/>
        </p:spPr>
        <p:txBody>
          <a:bodyPr anchor="ctr" wrap="square">
            <a:spAutoFit/>
          </a:bodyPr>
          <a:p>
            <a:pPr algn="ctr"/>
            <a:r>
              <a:rPr b="1" sz="2600">
                <a:solidFill>
                  <a:srgbClr val="121216"/>
                </a:solidFill>
                <a:latin typeface="Cambria"/>
              </a:rPr>
              <a:t>QUANTUM COMPUTING APPROACH</a:t>
            </a:r>
            <a:endParaRPr altLang="en-US" lang="zh-CN"/>
          </a:p>
        </p:txBody>
      </p:sp>
      <p:sp>
        <p:nvSpPr>
          <p:cNvPr id="1048653" name="Rectangle 8"/>
          <p:cNvSpPr/>
          <p:nvPr/>
        </p:nvSpPr>
        <p:spPr>
          <a:xfrm>
            <a:off x="365760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4" name="Rectangle 9"/>
          <p:cNvSpPr/>
          <p:nvPr/>
        </p:nvSpPr>
        <p:spPr>
          <a:xfrm>
            <a:off x="77724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5" name="Parallelogram 10"/>
          <p:cNvSpPr/>
          <p:nvPr/>
        </p:nvSpPr>
        <p:spPr>
          <a:xfrm>
            <a:off x="310896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6" name="Parallelogram 11"/>
          <p:cNvSpPr/>
          <p:nvPr/>
        </p:nvSpPr>
        <p:spPr>
          <a:xfrm>
            <a:off x="11475720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7" name="Rectangle 12"/>
          <p:cNvSpPr/>
          <p:nvPr/>
        </p:nvSpPr>
        <p:spPr>
          <a:xfrm>
            <a:off x="982980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8" name="Rectangle 13"/>
          <p:cNvSpPr/>
          <p:nvPr/>
        </p:nvSpPr>
        <p:spPr>
          <a:xfrm>
            <a:off x="11311128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9" name="Oval 14"/>
          <p:cNvSpPr/>
          <p:nvPr/>
        </p:nvSpPr>
        <p:spPr>
          <a:xfrm>
            <a:off x="5852160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0" name="Oval 15"/>
          <p:cNvSpPr/>
          <p:nvPr/>
        </p:nvSpPr>
        <p:spPr>
          <a:xfrm>
            <a:off x="6016752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1" name="Oval 16"/>
          <p:cNvSpPr/>
          <p:nvPr/>
        </p:nvSpPr>
        <p:spPr>
          <a:xfrm>
            <a:off x="6181344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2" name="TextBox 17"/>
          <p:cNvSpPr txBox="1"/>
          <p:nvPr/>
        </p:nvSpPr>
        <p:spPr>
          <a:xfrm>
            <a:off x="566928" y="6133338"/>
            <a:ext cx="1485722" cy="205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850">
                <a:solidFill>
                  <a:srgbClr val="121216"/>
                </a:solidFill>
                <a:latin typeface="Aptos"/>
              </a:rPr>
              <a:t>PLUS QISKIT FALL FEST 2026</a:t>
            </a:r>
          </a:p>
        </p:txBody>
      </p:sp>
      <p:sp>
        <p:nvSpPr>
          <p:cNvPr id="1048663" name="TextBox 18"/>
          <p:cNvSpPr txBox="1"/>
          <p:nvPr/>
        </p:nvSpPr>
        <p:spPr>
          <a:xfrm>
            <a:off x="11018520" y="6126988"/>
            <a:ext cx="309880" cy="218440"/>
          </a:xfrm>
          <a:prstGeom prst="rect"/>
          <a:noFill/>
        </p:spPr>
        <p:txBody>
          <a:bodyPr anchor="ctr" wrap="none">
            <a:spAutoFit/>
          </a:bodyPr>
          <a:p>
            <a:pPr algn="r"/>
            <a:r>
              <a:rPr b="0" sz="900">
                <a:solidFill>
                  <a:srgbClr val="121216"/>
                </a:solidFill>
                <a:latin typeface="Aptos"/>
              </a:rPr>
              <a:t>05</a:t>
            </a:r>
          </a:p>
        </p:txBody>
      </p:sp>
      <p:sp>
        <p:nvSpPr>
          <p:cNvPr id="2097162" name="TextBox 2097161"/>
          <p:cNvSpPr txBox="1"/>
          <p:nvPr/>
        </p:nvSpPr>
        <p:spPr>
          <a:xfrm>
            <a:off x="1097280" y="1261872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5E5E6A"/>
                </a:solidFill>
                <a:latin typeface="Cambria"/>
              </a:rPr>
              <a:t>Four quantum building blocks, each mapped to one navigation job.</a:t>
            </a:r>
          </a:p>
        </p:txBody>
      </p:sp>
      <p:sp>
        <p:nvSpPr>
          <p:cNvPr id="2097163" name="Rectangle 2097162"/>
          <p:cNvSpPr/>
          <p:nvPr/>
        </p:nvSpPr>
        <p:spPr>
          <a:xfrm>
            <a:off x="640080" y="1737360"/>
            <a:ext cx="5394960" cy="1828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TextBox 2097163"/>
          <p:cNvSpPr txBox="1"/>
          <p:nvPr/>
        </p:nvSpPr>
        <p:spPr>
          <a:xfrm>
            <a:off x="804671" y="18470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Q1 · QUANTUM SENSING</a:t>
            </a:r>
          </a:p>
        </p:txBody>
      </p:sp>
      <p:sp>
        <p:nvSpPr>
          <p:cNvPr id="2097165" name="TextBox 2097164"/>
          <p:cNvSpPr txBox="1"/>
          <p:nvPr/>
        </p:nvSpPr>
        <p:spPr>
          <a:xfrm>
            <a:off x="804671" y="2066543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216"/>
                </a:solidFill>
                <a:latin typeface="Cambria"/>
              </a:rPr>
              <a:t>Ramsey interferometry + iterative phase estimation</a:t>
            </a:r>
          </a:p>
        </p:txBody>
      </p:sp>
      <p:pic>
        <p:nvPicPr>
          <p:cNvPr id="2097166" name="Picture 2097165" descr="i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1" y="2340864"/>
            <a:ext cx="1853341" cy="886968"/>
          </a:xfrm>
          <a:prstGeom prst="rect">
            <a:avLst/>
          </a:prstGeom>
        </p:spPr>
      </p:pic>
      <p:sp>
        <p:nvSpPr>
          <p:cNvPr id="2097167" name="TextBox 2097166"/>
          <p:cNvSpPr txBox="1"/>
          <p:nvPr/>
        </p:nvSpPr>
        <p:spPr>
          <a:xfrm>
            <a:off x="804671" y="3218688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alibri"/>
              </a:rPr>
              <a:t>Qubit in superposition via H; field B imprints phase φ = γBτ (γ ≈ 28 GHz/T); phase kickback + IPE reads φ bit by bit. Models an NV-diamond readout.</a:t>
            </a:r>
          </a:p>
        </p:txBody>
      </p:sp>
      <p:sp>
        <p:nvSpPr>
          <p:cNvPr id="2097168" name="Rectangle 2097167"/>
          <p:cNvSpPr/>
          <p:nvPr/>
        </p:nvSpPr>
        <p:spPr>
          <a:xfrm>
            <a:off x="6217920" y="1737360"/>
            <a:ext cx="5394960" cy="1828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9" name="TextBox 2097168"/>
          <p:cNvSpPr txBox="1"/>
          <p:nvPr/>
        </p:nvSpPr>
        <p:spPr>
          <a:xfrm>
            <a:off x="6382512" y="18470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Q2 · SEARCH</a:t>
            </a:r>
          </a:p>
        </p:txBody>
      </p:sp>
      <p:sp>
        <p:nvSpPr>
          <p:cNvPr id="2097170" name="TextBox 2097169"/>
          <p:cNvSpPr txBox="1"/>
          <p:nvPr/>
        </p:nvSpPr>
        <p:spPr>
          <a:xfrm>
            <a:off x="6382512" y="2066543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216"/>
                </a:solidFill>
                <a:latin typeface="Cambria"/>
              </a:rPr>
              <a:t>Grover's algorithm · 4 qubits, 16 map cells</a:t>
            </a:r>
          </a:p>
        </p:txBody>
      </p:sp>
      <p:pic>
        <p:nvPicPr>
          <p:cNvPr id="2097171" name="Picture 2097170" descr="gr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340864"/>
            <a:ext cx="2293164" cy="886968"/>
          </a:xfrm>
          <a:prstGeom prst="rect">
            <a:avLst/>
          </a:prstGeom>
        </p:spPr>
      </p:pic>
      <p:sp>
        <p:nvSpPr>
          <p:cNvPr id="2097172" name="TextBox 2097171"/>
          <p:cNvSpPr txBox="1"/>
          <p:nvPr/>
        </p:nvSpPr>
        <p:spPr>
          <a:xfrm>
            <a:off x="6382512" y="3218688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alibri"/>
              </a:rPr>
              <a:t>Oracle U_f phase-flips cells whose fingerprint matches; diffuser 2|s⟩⟨s|−I amplifies them. ~√N queries; 2 iterations here.</a:t>
            </a:r>
          </a:p>
        </p:txBody>
      </p:sp>
      <p:sp>
        <p:nvSpPr>
          <p:cNvPr id="2097173" name="Rectangle 2097172"/>
          <p:cNvSpPr/>
          <p:nvPr/>
        </p:nvSpPr>
        <p:spPr>
          <a:xfrm>
            <a:off x="640080" y="3703320"/>
            <a:ext cx="5394960" cy="1828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4" name="TextBox 2097173"/>
          <p:cNvSpPr txBox="1"/>
          <p:nvPr/>
        </p:nvSpPr>
        <p:spPr>
          <a:xfrm>
            <a:off x="804671" y="3813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Q3 · LEARNING</a:t>
            </a:r>
          </a:p>
        </p:txBody>
      </p:sp>
      <p:sp>
        <p:nvSpPr>
          <p:cNvPr id="2097175" name="TextBox 2097174"/>
          <p:cNvSpPr txBox="1"/>
          <p:nvPr/>
        </p:nvSpPr>
        <p:spPr>
          <a:xfrm>
            <a:off x="804671" y="4032504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216"/>
                </a:solidFill>
                <a:latin typeface="Cambria"/>
              </a:rPr>
              <a:t>Quantum-kernel SVM · ZZ feature map</a:t>
            </a:r>
          </a:p>
        </p:txBody>
      </p:sp>
      <p:pic>
        <p:nvPicPr>
          <p:cNvPr id="2097176" name="Picture 2097175" descr="z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" y="4362378"/>
            <a:ext cx="5065776" cy="775860"/>
          </a:xfrm>
          <a:prstGeom prst="rect">
            <a:avLst/>
          </a:prstGeom>
        </p:spPr>
      </p:pic>
      <p:sp>
        <p:nvSpPr>
          <p:cNvPr id="2097177" name="TextBox 2097176"/>
          <p:cNvSpPr txBox="1"/>
          <p:nvPr/>
        </p:nvSpPr>
        <p:spPr>
          <a:xfrm>
            <a:off x="804671" y="5184648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alibri"/>
              </a:rPr>
              <a:t>x ↦ |φ(x)⟩ in a 16-dim Hilbert space; kernel K(x,x′)=|⟨φ(x)|φ(x′)⟩|² feeds a classical SVM (QSVC) to label the zone.</a:t>
            </a:r>
          </a:p>
        </p:txBody>
      </p:sp>
      <p:sp>
        <p:nvSpPr>
          <p:cNvPr id="2097178" name="Rectangle 2097177"/>
          <p:cNvSpPr/>
          <p:nvPr/>
        </p:nvSpPr>
        <p:spPr>
          <a:xfrm>
            <a:off x="6217920" y="3703320"/>
            <a:ext cx="5394960" cy="1828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9" name="TextBox 2097178"/>
          <p:cNvSpPr txBox="1"/>
          <p:nvPr/>
        </p:nvSpPr>
        <p:spPr>
          <a:xfrm>
            <a:off x="6382512" y="3813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Q4 · PLANNING</a:t>
            </a:r>
          </a:p>
        </p:txBody>
      </p:sp>
      <p:sp>
        <p:nvSpPr>
          <p:cNvPr id="2097180" name="TextBox 2097179"/>
          <p:cNvSpPr txBox="1"/>
          <p:nvPr/>
        </p:nvSpPr>
        <p:spPr>
          <a:xfrm>
            <a:off x="6382512" y="4032504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216"/>
                </a:solidFill>
                <a:latin typeface="Cambria"/>
              </a:rPr>
              <a:t>QAOA · p = 1, route graph</a:t>
            </a:r>
          </a:p>
        </p:txBody>
      </p:sp>
      <p:pic>
        <p:nvPicPr>
          <p:cNvPr id="2097181" name="Picture 2097180" descr="qao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4306824"/>
            <a:ext cx="2525883" cy="886968"/>
          </a:xfrm>
          <a:prstGeom prst="rect">
            <a:avLst/>
          </a:prstGeom>
        </p:spPr>
      </p:pic>
      <p:sp>
        <p:nvSpPr>
          <p:cNvPr id="2097182" name="TextBox 2097181"/>
          <p:cNvSpPr txBox="1"/>
          <p:nvPr/>
        </p:nvSpPr>
        <p:spPr>
          <a:xfrm>
            <a:off x="6382512" y="5184648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alibri"/>
              </a:rPr>
              <a:t>Cost Hamiltonian H_C = Σ wᵢⱼZᵢZⱼ rewards magnetically rich waypoints; mixer H_M = ΣXᵢ; γ, β tuned by COBYLA.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" name=""/>
        <p:cNvGrpSpPr/>
        <p:nvPr/>
      </p:nvGrpSpPr>
      <p:grpSpPr>
        <a:xfrm/>
      </p:grpSpPr>
      <p:pic>
        <p:nvPicPr>
          <p:cNvPr id="2097162" name="Picture 1" descr="rgukt_clea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8912" y="292608"/>
            <a:ext cx="473583" cy="585216"/>
          </a:xfrm>
          <a:prstGeom prst="rect"/>
        </p:spPr>
      </p:pic>
      <p:pic>
        <p:nvPicPr>
          <p:cNvPr id="2097163" name="Picture 2" descr="qiskit_clea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716768" y="246888"/>
            <a:ext cx="694944" cy="694944"/>
          </a:xfrm>
          <a:prstGeom prst="rect"/>
        </p:spPr>
      </p:pic>
      <p:sp>
        <p:nvSpPr>
          <p:cNvPr id="1048664" name="TextBox 3"/>
          <p:cNvSpPr txBox="1"/>
          <p:nvPr/>
        </p:nvSpPr>
        <p:spPr>
          <a:xfrm>
            <a:off x="1577340" y="594359"/>
            <a:ext cx="8075180" cy="497840"/>
          </a:xfrm>
          <a:prstGeom prst="rect"/>
          <a:noFill/>
        </p:spPr>
        <p:txBody>
          <a:bodyPr anchor="ctr" wrap="square">
            <a:spAutoFit/>
          </a:bodyPr>
          <a:p>
            <a:pPr algn="ctr"/>
            <a:r>
              <a:rPr b="1" sz="2600">
                <a:solidFill>
                  <a:srgbClr val="121216"/>
                </a:solidFill>
                <a:latin typeface="Cambria"/>
              </a:rPr>
              <a:t>QISKIT &amp; TECHNOLOGY STACK</a:t>
            </a:r>
            <a:endParaRPr altLang="en-US" lang="zh-CN"/>
          </a:p>
        </p:txBody>
      </p:sp>
      <p:sp>
        <p:nvSpPr>
          <p:cNvPr id="1048669" name="Rectangle 8"/>
          <p:cNvSpPr/>
          <p:nvPr/>
        </p:nvSpPr>
        <p:spPr>
          <a:xfrm>
            <a:off x="365760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0" name="Rectangle 9"/>
          <p:cNvSpPr/>
          <p:nvPr/>
        </p:nvSpPr>
        <p:spPr>
          <a:xfrm>
            <a:off x="77724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1" name="Parallelogram 10"/>
          <p:cNvSpPr/>
          <p:nvPr/>
        </p:nvSpPr>
        <p:spPr>
          <a:xfrm>
            <a:off x="310896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2" name="Parallelogram 11"/>
          <p:cNvSpPr/>
          <p:nvPr/>
        </p:nvSpPr>
        <p:spPr>
          <a:xfrm>
            <a:off x="11475720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3" name="Rectangle 12"/>
          <p:cNvSpPr/>
          <p:nvPr/>
        </p:nvSpPr>
        <p:spPr>
          <a:xfrm>
            <a:off x="982980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4" name="Rectangle 13"/>
          <p:cNvSpPr/>
          <p:nvPr/>
        </p:nvSpPr>
        <p:spPr>
          <a:xfrm>
            <a:off x="11311128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5" name="Oval 14"/>
          <p:cNvSpPr/>
          <p:nvPr/>
        </p:nvSpPr>
        <p:spPr>
          <a:xfrm>
            <a:off x="5852160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6" name="Oval 15"/>
          <p:cNvSpPr/>
          <p:nvPr/>
        </p:nvSpPr>
        <p:spPr>
          <a:xfrm>
            <a:off x="6016752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7" name="Oval 16"/>
          <p:cNvSpPr/>
          <p:nvPr/>
        </p:nvSpPr>
        <p:spPr>
          <a:xfrm>
            <a:off x="6181344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8" name="TextBox 17"/>
          <p:cNvSpPr txBox="1"/>
          <p:nvPr/>
        </p:nvSpPr>
        <p:spPr>
          <a:xfrm>
            <a:off x="566928" y="6133338"/>
            <a:ext cx="1485722" cy="205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850">
                <a:solidFill>
                  <a:srgbClr val="121216"/>
                </a:solidFill>
                <a:latin typeface="Aptos"/>
              </a:rPr>
              <a:t>PLUS QISKIT FALL FEST 2026</a:t>
            </a:r>
          </a:p>
        </p:txBody>
      </p:sp>
      <p:sp>
        <p:nvSpPr>
          <p:cNvPr id="1048679" name="TextBox 18"/>
          <p:cNvSpPr txBox="1"/>
          <p:nvPr/>
        </p:nvSpPr>
        <p:spPr>
          <a:xfrm>
            <a:off x="11018520" y="6126988"/>
            <a:ext cx="309880" cy="218440"/>
          </a:xfrm>
          <a:prstGeom prst="rect"/>
          <a:noFill/>
        </p:spPr>
        <p:txBody>
          <a:bodyPr anchor="ctr" wrap="none">
            <a:spAutoFit/>
          </a:bodyPr>
          <a:p>
            <a:pPr algn="r"/>
            <a:r>
              <a:rPr b="0" sz="900">
                <a:solidFill>
                  <a:srgbClr val="121216"/>
                </a:solidFill>
                <a:latin typeface="Aptos"/>
              </a:rPr>
              <a:t>06</a:t>
            </a:r>
          </a:p>
        </p:txBody>
      </p:sp>
      <p:sp>
        <p:nvSpPr>
          <p:cNvPr id="2097164" name="TextBox 2097163"/>
          <p:cNvSpPr txBox="1"/>
          <p:nvPr/>
        </p:nvSpPr>
        <p:spPr>
          <a:xfrm>
            <a:off x="1097280" y="1261872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5E5E6A"/>
                </a:solidFill>
                <a:latin typeface="Cambria"/>
              </a:rPr>
              <a:t>Open-source software on borrowed hardware: built for a student budget.</a:t>
            </a:r>
          </a:p>
        </p:txBody>
      </p:sp>
      <p:sp>
        <p:nvSpPr>
          <p:cNvPr id="2097165" name="Rectangle 2097164"/>
          <p:cNvSpPr/>
          <p:nvPr/>
        </p:nvSpPr>
        <p:spPr>
          <a:xfrm>
            <a:off x="640080" y="1783080"/>
            <a:ext cx="5989320" cy="640080"/>
          </a:xfrm>
          <a:prstGeom prst="rect">
            <a:avLst/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6" name="TextBox 2097165"/>
          <p:cNvSpPr txBox="1"/>
          <p:nvPr/>
        </p:nvSpPr>
        <p:spPr>
          <a:xfrm>
            <a:off x="822960" y="17830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spc="100">
                <a:solidFill>
                  <a:srgbClr val="F237A6"/>
                </a:solidFill>
                <a:latin typeface="Consolas"/>
              </a:rPr>
              <a:t>QUANTUM</a:t>
            </a:r>
          </a:p>
        </p:txBody>
      </p:sp>
      <p:sp>
        <p:nvSpPr>
          <p:cNvPr id="2097167" name="TextBox 2097166"/>
          <p:cNvSpPr txBox="1"/>
          <p:nvPr/>
        </p:nvSpPr>
        <p:spPr>
          <a:xfrm>
            <a:off x="2103120" y="178308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21216"/>
                </a:solidFill>
                <a:latin typeface="Calibri"/>
              </a:rPr>
              <a:t>Qiskit 2.x SDK · Qiskit Aer · IBM Runtime SamplerV2 · qiskit-machine-learning (FidelityQuantumKernel, QSVC) · QAOA + COBYLA</a:t>
            </a:r>
          </a:p>
        </p:txBody>
      </p:sp>
      <p:sp>
        <p:nvSpPr>
          <p:cNvPr id="2097168" name="Rectangle 2097167"/>
          <p:cNvSpPr/>
          <p:nvPr/>
        </p:nvSpPr>
        <p:spPr>
          <a:xfrm>
            <a:off x="640080" y="2514600"/>
            <a:ext cx="5989320" cy="64008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9" name="TextBox 2097168"/>
          <p:cNvSpPr txBox="1"/>
          <p:nvPr/>
        </p:nvSpPr>
        <p:spPr>
          <a:xfrm>
            <a:off x="822960" y="25146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spc="100">
                <a:solidFill>
                  <a:srgbClr val="F237A6"/>
                </a:solidFill>
                <a:latin typeface="Consolas"/>
              </a:rPr>
              <a:t>NAVIGATION</a:t>
            </a:r>
          </a:p>
        </p:txBody>
      </p:sp>
      <p:sp>
        <p:nvSpPr>
          <p:cNvPr id="2097170" name="TextBox 2097169"/>
          <p:cNvSpPr txBox="1"/>
          <p:nvPr/>
        </p:nvSpPr>
        <p:spPr>
          <a:xfrm>
            <a:off x="2103120" y="251460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21216"/>
                </a:solidFill>
                <a:latin typeface="Calibri"/>
              </a:rPr>
              <a:t>Python · NumPy / SciPy · FilterPy particle filter + EKF · hard/soft-iron calibration</a:t>
            </a:r>
          </a:p>
        </p:txBody>
      </p:sp>
      <p:sp>
        <p:nvSpPr>
          <p:cNvPr id="2097171" name="Rectangle 2097170"/>
          <p:cNvSpPr/>
          <p:nvPr/>
        </p:nvSpPr>
        <p:spPr>
          <a:xfrm>
            <a:off x="640080" y="3246120"/>
            <a:ext cx="5989320" cy="64008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2" name="TextBox 2097171"/>
          <p:cNvSpPr txBox="1"/>
          <p:nvPr/>
        </p:nvSpPr>
        <p:spPr>
          <a:xfrm>
            <a:off x="822960" y="32461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spc="100">
                <a:solidFill>
                  <a:srgbClr val="F237A6"/>
                </a:solidFill>
                <a:latin typeface="Consolas"/>
              </a:rPr>
              <a:t>FLIGHT</a:t>
            </a:r>
          </a:p>
        </p:txBody>
      </p:sp>
      <p:sp>
        <p:nvSpPr>
          <p:cNvPr id="2097173" name="TextBox 2097172"/>
          <p:cNvSpPr txBox="1"/>
          <p:nvPr/>
        </p:nvSpPr>
        <p:spPr>
          <a:xfrm>
            <a:off x="2103120" y="324612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21216"/>
                </a:solidFill>
                <a:latin typeface="Calibri"/>
              </a:rPr>
              <a:t>ArduPilot SITL · pymavlink · MAVLink VISION_POSITION_ESTIMATE / GPS_INPUT</a:t>
            </a:r>
          </a:p>
        </p:txBody>
      </p:sp>
      <p:sp>
        <p:nvSpPr>
          <p:cNvPr id="2097174" name="Rectangle 2097173"/>
          <p:cNvSpPr/>
          <p:nvPr/>
        </p:nvSpPr>
        <p:spPr>
          <a:xfrm>
            <a:off x="640080" y="3977640"/>
            <a:ext cx="5989320" cy="64008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5" name="TextBox 2097174"/>
          <p:cNvSpPr txBox="1"/>
          <p:nvPr/>
        </p:nvSpPr>
        <p:spPr>
          <a:xfrm>
            <a:off x="822960" y="39776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spc="100">
                <a:solidFill>
                  <a:srgbClr val="F237A6"/>
                </a:solidFill>
                <a:latin typeface="Consolas"/>
              </a:rPr>
              <a:t>FIRMWARE</a:t>
            </a:r>
          </a:p>
        </p:txBody>
      </p:sp>
      <p:sp>
        <p:nvSpPr>
          <p:cNvPr id="2097176" name="TextBox 2097175"/>
          <p:cNvSpPr txBox="1"/>
          <p:nvPr/>
        </p:nvSpPr>
        <p:spPr>
          <a:xfrm>
            <a:off x="2103120" y="397764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21216"/>
                </a:solidFill>
                <a:latin typeface="Calibri"/>
              </a:rPr>
              <a:t>ESP32 · Arduino C++ · I²C sensor drivers · 50 Hz UDP stream</a:t>
            </a:r>
          </a:p>
        </p:txBody>
      </p:sp>
      <p:sp>
        <p:nvSpPr>
          <p:cNvPr id="2097177" name="Rectangle 2097176"/>
          <p:cNvSpPr/>
          <p:nvPr/>
        </p:nvSpPr>
        <p:spPr>
          <a:xfrm>
            <a:off x="640080" y="4709160"/>
            <a:ext cx="5989320" cy="64008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8" name="TextBox 2097177"/>
          <p:cNvSpPr txBox="1"/>
          <p:nvPr/>
        </p:nvSpPr>
        <p:spPr>
          <a:xfrm>
            <a:off x="822960" y="47091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spc="100">
                <a:solidFill>
                  <a:srgbClr val="F237A6"/>
                </a:solidFill>
                <a:latin typeface="Consolas"/>
              </a:rPr>
              <a:t>INTERFACE</a:t>
            </a:r>
          </a:p>
        </p:txBody>
      </p:sp>
      <p:sp>
        <p:nvSpPr>
          <p:cNvPr id="2097179" name="TextBox 2097178"/>
          <p:cNvSpPr txBox="1"/>
          <p:nvPr/>
        </p:nvSpPr>
        <p:spPr>
          <a:xfrm>
            <a:off x="2103120" y="470916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21216"/>
                </a:solidFill>
                <a:latin typeface="Calibri"/>
              </a:rPr>
              <a:t>Streamlit + Plotly live map · circuit + histogram panels · CSV / Parquet logs</a:t>
            </a:r>
          </a:p>
        </p:txBody>
      </p:sp>
      <p:graphicFrame>
        <p:nvGraphicFramePr>
          <p:cNvPr id="2097180" name="Table 2097179"/>
          <p:cNvGraphicFramePr>
            <a:graphicFrameLocks noGrp="1"/>
          </p:cNvGraphicFramePr>
          <p:nvPr/>
        </p:nvGraphicFramePr>
        <p:xfrm>
          <a:off x="6858000" y="1783080"/>
          <a:ext cx="475487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508760"/>
                <a:gridCol w="777240"/>
                <a:gridCol w="59436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54864" marR="54864" marT="27432" marB="27432"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27432" marB="27432"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₹</a:t>
                      </a:r>
                    </a:p>
                  </a:txBody>
                  <a:tcPr marL="54864" marR="54864" marT="27432" marB="27432">
                    <a:solidFill>
                      <a:srgbClr val="12121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QMC5883L magnetometer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Main field sensor (mast)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Buy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MPU-9250 IMU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Accel + gyro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Borrow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BMP280 barometer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Altitude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Borrow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NEO-6M GPS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Mapping + ground truth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Borrow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PMW3901 optical flow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Ground motion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Buy (opt.)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ESP32 DevKit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Sensor hub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Borrow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 marL="54864" marR="54864" marT="27432" marB="27432">
                    <a:solidFill>
                      <a:srgbClr val="F4F4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Quadcopter frame / drone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Borrow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21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21216"/>
                          </a:solidFill>
                          <a:latin typeface="Calibri"/>
                        </a:rPr>
                        <a:t>Total if bought</a:t>
                      </a:r>
                    </a:p>
                  </a:txBody>
                  <a:tcPr marL="54864" marR="54864" marT="27432" marB="27432">
                    <a:solidFill>
                      <a:srgbClr val="FDEB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2121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27432" marB="27432">
                    <a:solidFill>
                      <a:srgbClr val="FDEB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21216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27432" marB="27432">
                    <a:solidFill>
                      <a:srgbClr val="FD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21216"/>
                          </a:solidFill>
                          <a:latin typeface="Calibri"/>
                        </a:rPr>
                        <a:t>≈ 3,950</a:t>
                      </a:r>
                    </a:p>
                  </a:txBody>
                  <a:tcPr marL="54864" marR="54864" marT="27432" marB="27432">
                    <a:solidFill>
                      <a:srgbClr val="FD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0" name=""/>
        <p:cNvGrpSpPr/>
        <p:nvPr/>
      </p:nvGrpSpPr>
      <p:grpSpPr>
        <a:xfrm/>
      </p:grpSpPr>
      <p:pic>
        <p:nvPicPr>
          <p:cNvPr id="2097164" name="Picture 1" descr="rgukt_clea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8912" y="292608"/>
            <a:ext cx="473583" cy="585216"/>
          </a:xfrm>
          <a:prstGeom prst="rect"/>
        </p:spPr>
      </p:pic>
      <p:pic>
        <p:nvPicPr>
          <p:cNvPr id="2097165" name="Picture 2" descr="qiskit_clea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716768" y="246888"/>
            <a:ext cx="694944" cy="694944"/>
          </a:xfrm>
          <a:prstGeom prst="rect"/>
        </p:spPr>
      </p:pic>
      <p:sp>
        <p:nvSpPr>
          <p:cNvPr id="1048680" name="TextBox 3"/>
          <p:cNvSpPr txBox="1"/>
          <p:nvPr/>
        </p:nvSpPr>
        <p:spPr>
          <a:xfrm>
            <a:off x="3029502" y="628904"/>
            <a:ext cx="6303685" cy="4978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600">
                <a:solidFill>
                  <a:srgbClr val="121216"/>
                </a:solidFill>
                <a:latin typeface="Cambria"/>
              </a:rPr>
              <a:t>SYSTEM ARCHITECTURE / WORKFLOW</a:t>
            </a:r>
            <a:endParaRPr altLang="en-US" lang="zh-CN"/>
          </a:p>
        </p:txBody>
      </p:sp>
      <p:sp>
        <p:nvSpPr>
          <p:cNvPr id="1048685" name="Rectangle 8"/>
          <p:cNvSpPr/>
          <p:nvPr/>
        </p:nvSpPr>
        <p:spPr>
          <a:xfrm>
            <a:off x="365760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6" name="Rectangle 9"/>
          <p:cNvSpPr/>
          <p:nvPr/>
        </p:nvSpPr>
        <p:spPr>
          <a:xfrm>
            <a:off x="77724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7" name="Parallelogram 10"/>
          <p:cNvSpPr/>
          <p:nvPr/>
        </p:nvSpPr>
        <p:spPr>
          <a:xfrm>
            <a:off x="310896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8" name="Parallelogram 11"/>
          <p:cNvSpPr/>
          <p:nvPr/>
        </p:nvSpPr>
        <p:spPr>
          <a:xfrm>
            <a:off x="11475720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9" name="Rectangle 12"/>
          <p:cNvSpPr/>
          <p:nvPr/>
        </p:nvSpPr>
        <p:spPr>
          <a:xfrm>
            <a:off x="982980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0" name="Rectangle 13"/>
          <p:cNvSpPr/>
          <p:nvPr/>
        </p:nvSpPr>
        <p:spPr>
          <a:xfrm>
            <a:off x="11311128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1" name="Oval 14"/>
          <p:cNvSpPr/>
          <p:nvPr/>
        </p:nvSpPr>
        <p:spPr>
          <a:xfrm>
            <a:off x="5852160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2" name="Oval 15"/>
          <p:cNvSpPr/>
          <p:nvPr/>
        </p:nvSpPr>
        <p:spPr>
          <a:xfrm>
            <a:off x="6016752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3" name="Oval 16"/>
          <p:cNvSpPr/>
          <p:nvPr/>
        </p:nvSpPr>
        <p:spPr>
          <a:xfrm>
            <a:off x="6181344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4" name="TextBox 17"/>
          <p:cNvSpPr txBox="1"/>
          <p:nvPr/>
        </p:nvSpPr>
        <p:spPr>
          <a:xfrm>
            <a:off x="566928" y="6133338"/>
            <a:ext cx="1485722" cy="205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850">
                <a:solidFill>
                  <a:srgbClr val="121216"/>
                </a:solidFill>
                <a:latin typeface="Aptos"/>
              </a:rPr>
              <a:t>PLUS QISKIT FALL FEST 2026</a:t>
            </a:r>
          </a:p>
        </p:txBody>
      </p:sp>
      <p:sp>
        <p:nvSpPr>
          <p:cNvPr id="1048695" name="TextBox 18"/>
          <p:cNvSpPr txBox="1"/>
          <p:nvPr/>
        </p:nvSpPr>
        <p:spPr>
          <a:xfrm>
            <a:off x="11018520" y="6126988"/>
            <a:ext cx="297180" cy="218440"/>
          </a:xfrm>
          <a:prstGeom prst="rect"/>
          <a:noFill/>
        </p:spPr>
        <p:txBody>
          <a:bodyPr anchor="ctr" wrap="none">
            <a:spAutoFit/>
          </a:bodyPr>
          <a:p>
            <a:pPr algn="r"/>
            <a:r>
              <a:rPr b="0" sz="900">
                <a:solidFill>
                  <a:srgbClr val="121216"/>
                </a:solidFill>
                <a:latin typeface="Aptos"/>
              </a:rPr>
              <a:t>07</a:t>
            </a:r>
          </a:p>
        </p:txBody>
      </p:sp>
      <p:sp>
        <p:nvSpPr>
          <p:cNvPr id="2097166" name="TextBox 2097165"/>
          <p:cNvSpPr txBox="1"/>
          <p:nvPr/>
        </p:nvSpPr>
        <p:spPr>
          <a:xfrm>
            <a:off x="1097280" y="1261872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5E5E6A"/>
                </a:solidFill>
                <a:latin typeface="Cambria"/>
              </a:rPr>
              <a:t>Sensors in, trusted position out: quantum where it adds value, classical where speed matters.</a:t>
            </a:r>
          </a:p>
        </p:txBody>
      </p:sp>
      <p:sp>
        <p:nvSpPr>
          <p:cNvPr id="2097167" name="TextBox 2097166"/>
          <p:cNvSpPr txBox="1"/>
          <p:nvPr/>
        </p:nvSpPr>
        <p:spPr>
          <a:xfrm>
            <a:off x="640080" y="17373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SENSE · 50 HZ</a:t>
            </a:r>
          </a:p>
        </p:txBody>
      </p:sp>
      <p:sp>
        <p:nvSpPr>
          <p:cNvPr id="2097168" name="Rectangle 2097167"/>
          <p:cNvSpPr/>
          <p:nvPr/>
        </p:nvSpPr>
        <p:spPr>
          <a:xfrm>
            <a:off x="640080" y="2011680"/>
            <a:ext cx="2011680" cy="5486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9" name="TextBox 2097168"/>
          <p:cNvSpPr txBox="1"/>
          <p:nvPr/>
        </p:nvSpPr>
        <p:spPr>
          <a:xfrm>
            <a:off x="777240" y="205740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21216"/>
                </a:solidFill>
                <a:latin typeface="Calibri"/>
              </a:rPr>
              <a:t>Magnetometer</a:t>
            </a:r>
          </a:p>
        </p:txBody>
      </p:sp>
      <p:sp>
        <p:nvSpPr>
          <p:cNvPr id="2097170" name="TextBox 2097169"/>
          <p:cNvSpPr txBox="1"/>
          <p:nvPr/>
        </p:nvSpPr>
        <p:spPr>
          <a:xfrm>
            <a:off x="777240" y="229514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5E6A"/>
                </a:solidFill>
                <a:latin typeface="Calibri"/>
              </a:rPr>
              <a:t>quantum-ready</a:t>
            </a:r>
          </a:p>
        </p:txBody>
      </p:sp>
      <p:sp>
        <p:nvSpPr>
          <p:cNvPr id="2097171" name="Rectangle 2097170"/>
          <p:cNvSpPr/>
          <p:nvPr/>
        </p:nvSpPr>
        <p:spPr>
          <a:xfrm>
            <a:off x="640080" y="2670048"/>
            <a:ext cx="2011680" cy="5486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2" name="TextBox 2097171"/>
          <p:cNvSpPr txBox="1"/>
          <p:nvPr/>
        </p:nvSpPr>
        <p:spPr>
          <a:xfrm>
            <a:off x="777240" y="27157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21216"/>
                </a:solidFill>
                <a:latin typeface="Calibri"/>
              </a:rPr>
              <a:t>IMU</a:t>
            </a:r>
          </a:p>
        </p:txBody>
      </p:sp>
      <p:sp>
        <p:nvSpPr>
          <p:cNvPr id="2097173" name="TextBox 2097172"/>
          <p:cNvSpPr txBox="1"/>
          <p:nvPr/>
        </p:nvSpPr>
        <p:spPr>
          <a:xfrm>
            <a:off x="777240" y="295351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5E6A"/>
                </a:solidFill>
                <a:latin typeface="Calibri"/>
              </a:rPr>
              <a:t>accel · gyro</a:t>
            </a:r>
          </a:p>
        </p:txBody>
      </p:sp>
      <p:sp>
        <p:nvSpPr>
          <p:cNvPr id="2097174" name="Rectangle 2097173"/>
          <p:cNvSpPr/>
          <p:nvPr/>
        </p:nvSpPr>
        <p:spPr>
          <a:xfrm>
            <a:off x="640080" y="3328416"/>
            <a:ext cx="2011680" cy="5486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5" name="TextBox 2097174"/>
          <p:cNvSpPr txBox="1"/>
          <p:nvPr/>
        </p:nvSpPr>
        <p:spPr>
          <a:xfrm>
            <a:off x="777240" y="337413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21216"/>
                </a:solidFill>
                <a:latin typeface="Calibri"/>
              </a:rPr>
              <a:t>Optical flow</a:t>
            </a:r>
          </a:p>
        </p:txBody>
      </p:sp>
      <p:sp>
        <p:nvSpPr>
          <p:cNvPr id="2097176" name="TextBox 2097175"/>
          <p:cNvSpPr txBox="1"/>
          <p:nvPr/>
        </p:nvSpPr>
        <p:spPr>
          <a:xfrm>
            <a:off x="777240" y="36118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5E6A"/>
                </a:solidFill>
                <a:latin typeface="Calibri"/>
              </a:rPr>
              <a:t>ground motion</a:t>
            </a:r>
          </a:p>
        </p:txBody>
      </p:sp>
      <p:sp>
        <p:nvSpPr>
          <p:cNvPr id="2097177" name="Rectangle 2097176"/>
          <p:cNvSpPr/>
          <p:nvPr/>
        </p:nvSpPr>
        <p:spPr>
          <a:xfrm>
            <a:off x="640080" y="3986784"/>
            <a:ext cx="2011680" cy="5486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8" name="TextBox 2097177"/>
          <p:cNvSpPr txBox="1"/>
          <p:nvPr/>
        </p:nvSpPr>
        <p:spPr>
          <a:xfrm>
            <a:off x="777240" y="403250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21216"/>
                </a:solidFill>
                <a:latin typeface="Calibri"/>
              </a:rPr>
              <a:t>Barometer</a:t>
            </a:r>
          </a:p>
        </p:txBody>
      </p:sp>
      <p:sp>
        <p:nvSpPr>
          <p:cNvPr id="2097179" name="TextBox 2097178"/>
          <p:cNvSpPr txBox="1"/>
          <p:nvPr/>
        </p:nvSpPr>
        <p:spPr>
          <a:xfrm>
            <a:off x="777240" y="427024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5E6A"/>
                </a:solidFill>
                <a:latin typeface="Calibri"/>
              </a:rPr>
              <a:t>altitude</a:t>
            </a:r>
          </a:p>
        </p:txBody>
      </p:sp>
      <p:sp>
        <p:nvSpPr>
          <p:cNvPr id="2097180" name="Rectangle 2097179"/>
          <p:cNvSpPr/>
          <p:nvPr/>
        </p:nvSpPr>
        <p:spPr>
          <a:xfrm>
            <a:off x="640080" y="4645152"/>
            <a:ext cx="2011680" cy="5486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1" name="TextBox 2097180"/>
          <p:cNvSpPr txBox="1"/>
          <p:nvPr/>
        </p:nvSpPr>
        <p:spPr>
          <a:xfrm>
            <a:off x="777240" y="469087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21216"/>
                </a:solidFill>
                <a:latin typeface="Calibri"/>
              </a:rPr>
              <a:t>GPS</a:t>
            </a:r>
          </a:p>
        </p:txBody>
      </p:sp>
      <p:sp>
        <p:nvSpPr>
          <p:cNvPr id="2097182" name="TextBox 2097181"/>
          <p:cNvSpPr txBox="1"/>
          <p:nvPr/>
        </p:nvSpPr>
        <p:spPr>
          <a:xfrm>
            <a:off x="777240" y="492861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5E6A"/>
                </a:solidFill>
                <a:latin typeface="Calibri"/>
              </a:rPr>
              <a:t>mapping only</a:t>
            </a:r>
          </a:p>
        </p:txBody>
      </p:sp>
      <p:cxnSp>
        <p:nvCxnSpPr>
          <p:cNvPr id="2097183" name="Connector 2097182"/>
          <p:cNvCxnSpPr/>
          <p:nvPr/>
        </p:nvCxnSpPr>
        <p:spPr>
          <a:xfrm>
            <a:off x="2697480" y="3611880"/>
            <a:ext cx="365760" cy="0"/>
          </a:xfrm>
          <a:prstGeom prst="line">
            <a:avLst/>
          </a:prstGeom>
          <a:ln w="15875">
            <a:solidFill>
              <a:srgbClr val="1212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84" name="TextBox 2097183"/>
          <p:cNvSpPr txBox="1"/>
          <p:nvPr/>
        </p:nvSpPr>
        <p:spPr>
          <a:xfrm>
            <a:off x="3108960" y="17373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PRE-PROCESS</a:t>
            </a:r>
          </a:p>
        </p:txBody>
      </p:sp>
      <p:sp>
        <p:nvSpPr>
          <p:cNvPr id="2097185" name="Rectangle 2097184"/>
          <p:cNvSpPr/>
          <p:nvPr/>
        </p:nvSpPr>
        <p:spPr>
          <a:xfrm>
            <a:off x="3108960" y="2011680"/>
            <a:ext cx="192024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212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6" name="TextBox 2097185"/>
          <p:cNvSpPr txBox="1"/>
          <p:nvPr/>
        </p:nvSpPr>
        <p:spPr>
          <a:xfrm>
            <a:off x="3246120" y="2148840"/>
            <a:ext cx="16916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21216"/>
                </a:solidFill>
                <a:latin typeface="Calibri"/>
              </a:rPr>
              <a:t>Calibrate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5E6A"/>
                </a:solidFill>
                <a:latin typeface="Calibri"/>
              </a:rPr>
              <a:t>hard/soft iron, tilt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1216"/>
                </a:solidFill>
                <a:latin typeface="Calibri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21216"/>
                </a:solidFill>
                <a:latin typeface="Calibri"/>
              </a:rPr>
              <a:t>Fingerprint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5E6A"/>
                </a:solidFill>
                <a:latin typeface="Consolas"/>
              </a:rPr>
              <a:t>[Bx,By,Bz,|B|,∇B]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1216"/>
                </a:solidFill>
                <a:latin typeface="Calibri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21216"/>
                </a:solidFill>
                <a:latin typeface="Calibri"/>
              </a:rPr>
              <a:t>Dead reckoning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5E6A"/>
                </a:solidFill>
                <a:latin typeface="Calibri"/>
              </a:rPr>
              <a:t>IMU + flow → Δx, Δy</a:t>
            </a:r>
          </a:p>
        </p:txBody>
      </p:sp>
      <p:cxnSp>
        <p:nvCxnSpPr>
          <p:cNvPr id="2097187" name="Connector 2097186"/>
          <p:cNvCxnSpPr/>
          <p:nvPr/>
        </p:nvCxnSpPr>
        <p:spPr>
          <a:xfrm>
            <a:off x="5074920" y="3611880"/>
            <a:ext cx="365760" cy="0"/>
          </a:xfrm>
          <a:prstGeom prst="line">
            <a:avLst/>
          </a:prstGeom>
          <a:ln w="15875">
            <a:solidFill>
              <a:srgbClr val="1212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88" name="TextBox 2097187"/>
          <p:cNvSpPr txBox="1"/>
          <p:nvPr/>
        </p:nvSpPr>
        <p:spPr>
          <a:xfrm>
            <a:off x="5486400" y="17373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QUANTUM ENGINE · QISKIT</a:t>
            </a:r>
          </a:p>
        </p:txBody>
      </p:sp>
      <p:sp>
        <p:nvSpPr>
          <p:cNvPr id="2097189" name="Rectangle 2097188"/>
          <p:cNvSpPr/>
          <p:nvPr/>
        </p:nvSpPr>
        <p:spPr>
          <a:xfrm>
            <a:off x="5486400" y="2011680"/>
            <a:ext cx="3063240" cy="3182112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0" name="Rectangle 2097189"/>
          <p:cNvSpPr/>
          <p:nvPr/>
        </p:nvSpPr>
        <p:spPr>
          <a:xfrm>
            <a:off x="5623560" y="2148840"/>
            <a:ext cx="2788920" cy="640080"/>
          </a:xfrm>
          <a:prstGeom prst="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1" name="TextBox 2097190"/>
          <p:cNvSpPr txBox="1"/>
          <p:nvPr/>
        </p:nvSpPr>
        <p:spPr>
          <a:xfrm>
            <a:off x="5760720" y="22128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Q1 Ramsey / IPE</a:t>
            </a:r>
          </a:p>
        </p:txBody>
      </p:sp>
      <p:sp>
        <p:nvSpPr>
          <p:cNvPr id="2097192" name="TextBox 2097191"/>
          <p:cNvSpPr txBox="1"/>
          <p:nvPr/>
        </p:nvSpPr>
        <p:spPr>
          <a:xfrm>
            <a:off x="5760720" y="248716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9A8D8"/>
                </a:solidFill>
                <a:latin typeface="Calibri"/>
              </a:rPr>
              <a:t>read field (NV sim)</a:t>
            </a:r>
          </a:p>
        </p:txBody>
      </p:sp>
      <p:sp>
        <p:nvSpPr>
          <p:cNvPr id="2097193" name="Rectangle 2097192"/>
          <p:cNvSpPr/>
          <p:nvPr/>
        </p:nvSpPr>
        <p:spPr>
          <a:xfrm>
            <a:off x="5623560" y="2898648"/>
            <a:ext cx="2788920" cy="640080"/>
          </a:xfrm>
          <a:prstGeom prst="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4" name="TextBox 2097193"/>
          <p:cNvSpPr txBox="1"/>
          <p:nvPr/>
        </p:nvSpPr>
        <p:spPr>
          <a:xfrm>
            <a:off x="5760720" y="29626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Q2 Grover</a:t>
            </a:r>
          </a:p>
        </p:txBody>
      </p:sp>
      <p:sp>
        <p:nvSpPr>
          <p:cNvPr id="2097195" name="TextBox 2097194"/>
          <p:cNvSpPr txBox="1"/>
          <p:nvPr/>
        </p:nvSpPr>
        <p:spPr>
          <a:xfrm>
            <a:off x="5760720" y="3236976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9A8D8"/>
                </a:solidFill>
                <a:latin typeface="Calibri"/>
              </a:rPr>
              <a:t>candidate cells</a:t>
            </a:r>
          </a:p>
        </p:txBody>
      </p:sp>
      <p:sp>
        <p:nvSpPr>
          <p:cNvPr id="2097196" name="Rectangle 2097195"/>
          <p:cNvSpPr/>
          <p:nvPr/>
        </p:nvSpPr>
        <p:spPr>
          <a:xfrm>
            <a:off x="5623560" y="3648456"/>
            <a:ext cx="2788920" cy="640080"/>
          </a:xfrm>
          <a:prstGeom prst="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7" name="TextBox 2097196"/>
          <p:cNvSpPr txBox="1"/>
          <p:nvPr/>
        </p:nvSpPr>
        <p:spPr>
          <a:xfrm>
            <a:off x="5760720" y="37124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Q3 QSVM</a:t>
            </a:r>
          </a:p>
        </p:txBody>
      </p:sp>
      <p:sp>
        <p:nvSpPr>
          <p:cNvPr id="2097198" name="TextBox 2097197"/>
          <p:cNvSpPr txBox="1"/>
          <p:nvPr/>
        </p:nvSpPr>
        <p:spPr>
          <a:xfrm>
            <a:off x="5760720" y="3986784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9A8D8"/>
                </a:solidFill>
                <a:latin typeface="Calibri"/>
              </a:rPr>
              <a:t>zone label</a:t>
            </a:r>
          </a:p>
        </p:txBody>
      </p:sp>
      <p:sp>
        <p:nvSpPr>
          <p:cNvPr id="2097199" name="Rectangle 2097198"/>
          <p:cNvSpPr/>
          <p:nvPr/>
        </p:nvSpPr>
        <p:spPr>
          <a:xfrm>
            <a:off x="5623560" y="4398264"/>
            <a:ext cx="2788920" cy="640080"/>
          </a:xfrm>
          <a:prstGeom prst="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00" name="TextBox 2097199"/>
          <p:cNvSpPr txBox="1"/>
          <p:nvPr/>
        </p:nvSpPr>
        <p:spPr>
          <a:xfrm>
            <a:off x="5760720" y="44622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Q4 QAOA</a:t>
            </a:r>
          </a:p>
        </p:txBody>
      </p:sp>
      <p:sp>
        <p:nvSpPr>
          <p:cNvPr id="2097201" name="TextBox 2097200"/>
          <p:cNvSpPr txBox="1"/>
          <p:nvPr/>
        </p:nvSpPr>
        <p:spPr>
          <a:xfrm>
            <a:off x="5760720" y="473659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9A8D8"/>
                </a:solidFill>
                <a:latin typeface="Calibri"/>
              </a:rPr>
              <a:t>next waypoints</a:t>
            </a:r>
          </a:p>
        </p:txBody>
      </p:sp>
      <p:cxnSp>
        <p:nvCxnSpPr>
          <p:cNvPr id="2097202" name="Connector 2097201"/>
          <p:cNvCxnSpPr/>
          <p:nvPr/>
        </p:nvCxnSpPr>
        <p:spPr>
          <a:xfrm>
            <a:off x="8595360" y="3611880"/>
            <a:ext cx="365760" cy="0"/>
          </a:xfrm>
          <a:prstGeom prst="line">
            <a:avLst/>
          </a:prstGeom>
          <a:ln w="15875">
            <a:solidFill>
              <a:srgbClr val="1212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203" name="TextBox 2097202"/>
          <p:cNvSpPr txBox="1"/>
          <p:nvPr/>
        </p:nvSpPr>
        <p:spPr>
          <a:xfrm>
            <a:off x="9006840" y="17373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FUSE &amp; ACT</a:t>
            </a:r>
          </a:p>
        </p:txBody>
      </p:sp>
      <p:sp>
        <p:nvSpPr>
          <p:cNvPr id="2097204" name="Rectangle 2097203"/>
          <p:cNvSpPr/>
          <p:nvPr/>
        </p:nvSpPr>
        <p:spPr>
          <a:xfrm>
            <a:off x="9006840" y="2011680"/>
            <a:ext cx="2606040" cy="1463040"/>
          </a:xfrm>
          <a:prstGeom prst="rect">
            <a:avLst/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05" name="TextBox 2097204"/>
          <p:cNvSpPr txBox="1"/>
          <p:nvPr/>
        </p:nvSpPr>
        <p:spPr>
          <a:xfrm>
            <a:off x="9144000" y="2121408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216"/>
                </a:solidFill>
                <a:latin typeface="Calibri"/>
              </a:rPr>
              <a:t>Particle filter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E5E6A"/>
                </a:solidFill>
                <a:latin typeface="Calibri"/>
              </a:rPr>
              <a:t>500 particles; re-weighted only when Grover and QSVM agree</a:t>
            </a:r>
          </a:p>
        </p:txBody>
      </p:sp>
      <p:cxnSp>
        <p:nvCxnSpPr>
          <p:cNvPr id="2097206" name="Connector 2097205"/>
          <p:cNvCxnSpPr/>
          <p:nvPr/>
        </p:nvCxnSpPr>
        <p:spPr>
          <a:xfrm>
            <a:off x="10305288" y="3520440"/>
            <a:ext cx="0" cy="228599"/>
          </a:xfrm>
          <a:prstGeom prst="line">
            <a:avLst/>
          </a:prstGeom>
          <a:ln w="15875">
            <a:solidFill>
              <a:srgbClr val="1212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207" name="Rectangle 2097206"/>
          <p:cNvSpPr/>
          <p:nvPr/>
        </p:nvSpPr>
        <p:spPr>
          <a:xfrm>
            <a:off x="9006840" y="3749039"/>
            <a:ext cx="1252728" cy="144475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08" name="TextBox 2097207"/>
          <p:cNvSpPr txBox="1"/>
          <p:nvPr/>
        </p:nvSpPr>
        <p:spPr>
          <a:xfrm>
            <a:off x="9098280" y="3840480"/>
            <a:ext cx="1097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21216"/>
                </a:solidFill>
                <a:latin typeface="Calibri"/>
              </a:rPr>
              <a:t>Autopilot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5E6A"/>
                </a:solidFill>
                <a:latin typeface="Calibri"/>
              </a:rPr>
              <a:t>MAVLink position + covariance</a:t>
            </a:r>
          </a:p>
        </p:txBody>
      </p:sp>
      <p:sp>
        <p:nvSpPr>
          <p:cNvPr id="2097209" name="Rectangle 2097208"/>
          <p:cNvSpPr/>
          <p:nvPr/>
        </p:nvSpPr>
        <p:spPr>
          <a:xfrm>
            <a:off x="10360152" y="3749039"/>
            <a:ext cx="1252728" cy="144475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10" name="TextBox 2097209"/>
          <p:cNvSpPr txBox="1"/>
          <p:nvPr/>
        </p:nvSpPr>
        <p:spPr>
          <a:xfrm>
            <a:off x="10451592" y="3840480"/>
            <a:ext cx="1097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21216"/>
                </a:solidFill>
                <a:latin typeface="Calibri"/>
              </a:rPr>
              <a:t>Dashboard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5E6A"/>
                </a:solidFill>
                <a:latin typeface="Calibri"/>
              </a:rPr>
              <a:t>map, error, circuits</a:t>
            </a:r>
          </a:p>
        </p:txBody>
      </p:sp>
      <p:sp>
        <p:nvSpPr>
          <p:cNvPr id="2097211" name="TextBox 2097210"/>
          <p:cNvSpPr txBox="1"/>
          <p:nvPr/>
        </p:nvSpPr>
        <p:spPr>
          <a:xfrm>
            <a:off x="640080" y="53218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E5E6A"/>
                </a:solidFill>
                <a:latin typeface="Calibri"/>
              </a:rPr>
              <a:t>Loop: classical fusion runs every 20 ms; quantum matching runs every 1 s on a window of readings, so quantum latency never blocks flight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1" name=""/>
        <p:cNvGrpSpPr/>
        <p:nvPr/>
      </p:nvGrpSpPr>
      <p:grpSpPr>
        <a:xfrm/>
      </p:grpSpPr>
      <p:pic>
        <p:nvPicPr>
          <p:cNvPr id="2097166" name="Picture 1" descr="rgukt_clea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8912" y="292608"/>
            <a:ext cx="473583" cy="585216"/>
          </a:xfrm>
          <a:prstGeom prst="rect"/>
        </p:spPr>
      </p:pic>
      <p:pic>
        <p:nvPicPr>
          <p:cNvPr id="2097167" name="Picture 2" descr="qiskit_clea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716768" y="246888"/>
            <a:ext cx="694944" cy="694944"/>
          </a:xfrm>
          <a:prstGeom prst="rect"/>
        </p:spPr>
      </p:pic>
      <p:sp>
        <p:nvSpPr>
          <p:cNvPr id="1048696" name="TextBox 3"/>
          <p:cNvSpPr txBox="1"/>
          <p:nvPr/>
        </p:nvSpPr>
        <p:spPr>
          <a:xfrm>
            <a:off x="3172648" y="692911"/>
            <a:ext cx="5359023" cy="4978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600">
                <a:solidFill>
                  <a:srgbClr val="121216"/>
                </a:solidFill>
                <a:latin typeface="Cambria"/>
              </a:rPr>
              <a:t>IMPLEMENTATION &amp; FEASIBILITY</a:t>
            </a:r>
            <a:endParaRPr altLang="en-US" lang="zh-CN"/>
          </a:p>
        </p:txBody>
      </p:sp>
      <p:sp>
        <p:nvSpPr>
          <p:cNvPr id="1048701" name="Rectangle 8"/>
          <p:cNvSpPr/>
          <p:nvPr/>
        </p:nvSpPr>
        <p:spPr>
          <a:xfrm>
            <a:off x="365760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2" name="Rectangle 9"/>
          <p:cNvSpPr/>
          <p:nvPr/>
        </p:nvSpPr>
        <p:spPr>
          <a:xfrm>
            <a:off x="77724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3" name="Parallelogram 10"/>
          <p:cNvSpPr/>
          <p:nvPr/>
        </p:nvSpPr>
        <p:spPr>
          <a:xfrm>
            <a:off x="310896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4" name="Parallelogram 11"/>
          <p:cNvSpPr/>
          <p:nvPr/>
        </p:nvSpPr>
        <p:spPr>
          <a:xfrm>
            <a:off x="11475720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5" name="Rectangle 12"/>
          <p:cNvSpPr/>
          <p:nvPr/>
        </p:nvSpPr>
        <p:spPr>
          <a:xfrm>
            <a:off x="982980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6" name="Rectangle 13"/>
          <p:cNvSpPr/>
          <p:nvPr/>
        </p:nvSpPr>
        <p:spPr>
          <a:xfrm>
            <a:off x="11311128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7" name="Oval 14"/>
          <p:cNvSpPr/>
          <p:nvPr/>
        </p:nvSpPr>
        <p:spPr>
          <a:xfrm>
            <a:off x="5852160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8" name="Oval 15"/>
          <p:cNvSpPr/>
          <p:nvPr/>
        </p:nvSpPr>
        <p:spPr>
          <a:xfrm>
            <a:off x="6016752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9" name="Oval 16"/>
          <p:cNvSpPr/>
          <p:nvPr/>
        </p:nvSpPr>
        <p:spPr>
          <a:xfrm>
            <a:off x="6181344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0" name="TextBox 17"/>
          <p:cNvSpPr txBox="1"/>
          <p:nvPr/>
        </p:nvSpPr>
        <p:spPr>
          <a:xfrm>
            <a:off x="566928" y="6133338"/>
            <a:ext cx="1485722" cy="205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850">
                <a:solidFill>
                  <a:srgbClr val="121216"/>
                </a:solidFill>
                <a:latin typeface="Aptos"/>
              </a:rPr>
              <a:t>PLUS QISKIT FALL FEST 2026</a:t>
            </a:r>
          </a:p>
        </p:txBody>
      </p:sp>
      <p:sp>
        <p:nvSpPr>
          <p:cNvPr id="1048711" name="TextBox 18"/>
          <p:cNvSpPr txBox="1"/>
          <p:nvPr/>
        </p:nvSpPr>
        <p:spPr>
          <a:xfrm>
            <a:off x="11018520" y="6126988"/>
            <a:ext cx="309880" cy="218440"/>
          </a:xfrm>
          <a:prstGeom prst="rect"/>
          <a:noFill/>
        </p:spPr>
        <p:txBody>
          <a:bodyPr anchor="ctr" wrap="none">
            <a:spAutoFit/>
          </a:bodyPr>
          <a:p>
            <a:pPr algn="r"/>
            <a:r>
              <a:rPr b="0" sz="900">
                <a:solidFill>
                  <a:srgbClr val="121216"/>
                </a:solidFill>
                <a:latin typeface="Aptos"/>
              </a:rPr>
              <a:t>08</a:t>
            </a:r>
          </a:p>
        </p:txBody>
      </p:sp>
      <p:sp>
        <p:nvSpPr>
          <p:cNvPr id="2097168" name="TextBox 2097167"/>
          <p:cNvSpPr txBox="1"/>
          <p:nvPr/>
        </p:nvSpPr>
        <p:spPr>
          <a:xfrm>
            <a:off x="1097280" y="1261872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5E5E6A"/>
                </a:solidFill>
                <a:latin typeface="Cambria"/>
              </a:rPr>
              <a:t>Built in 24 hours, with a working fallback at every level.</a:t>
            </a:r>
          </a:p>
        </p:txBody>
      </p:sp>
      <p:sp>
        <p:nvSpPr>
          <p:cNvPr id="2097169" name="TextBox 2097168"/>
          <p:cNvSpPr txBox="1"/>
          <p:nvPr/>
        </p:nvSpPr>
        <p:spPr>
          <a:xfrm>
            <a:off x="640080" y="17373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24-HOUR BUILD PLAN</a:t>
            </a:r>
          </a:p>
        </p:txBody>
      </p:sp>
      <p:sp>
        <p:nvSpPr>
          <p:cNvPr id="2097170" name="TextBox 2097169"/>
          <p:cNvSpPr txBox="1"/>
          <p:nvPr/>
        </p:nvSpPr>
        <p:spPr>
          <a:xfrm>
            <a:off x="1645920" y="1965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onsolas"/>
              </a:rPr>
              <a:t>H0</a:t>
            </a:r>
          </a:p>
        </p:txBody>
      </p:sp>
      <p:cxnSp>
        <p:nvCxnSpPr>
          <p:cNvPr id="2097171" name="Connector 2097170"/>
          <p:cNvCxnSpPr/>
          <p:nvPr/>
        </p:nvCxnSpPr>
        <p:spPr>
          <a:xfrm>
            <a:off x="1920240" y="2194560"/>
            <a:ext cx="0" cy="1600200"/>
          </a:xfrm>
          <a:prstGeom prst="line">
            <a:avLst/>
          </a:prstGeom>
          <a:ln w="9525">
            <a:solidFill>
              <a:srgbClr val="E0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72" name="TextBox 2097171"/>
          <p:cNvSpPr txBox="1"/>
          <p:nvPr/>
        </p:nvSpPr>
        <p:spPr>
          <a:xfrm>
            <a:off x="3261360" y="1965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onsolas"/>
              </a:rPr>
              <a:t>H4</a:t>
            </a:r>
          </a:p>
        </p:txBody>
      </p:sp>
      <p:cxnSp>
        <p:nvCxnSpPr>
          <p:cNvPr id="2097173" name="Connector 2097172"/>
          <p:cNvCxnSpPr/>
          <p:nvPr/>
        </p:nvCxnSpPr>
        <p:spPr>
          <a:xfrm>
            <a:off x="3535680" y="2194560"/>
            <a:ext cx="0" cy="1600200"/>
          </a:xfrm>
          <a:prstGeom prst="line">
            <a:avLst/>
          </a:prstGeom>
          <a:ln w="9525">
            <a:solidFill>
              <a:srgbClr val="E0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74" name="TextBox 2097173"/>
          <p:cNvSpPr txBox="1"/>
          <p:nvPr/>
        </p:nvSpPr>
        <p:spPr>
          <a:xfrm>
            <a:off x="4876800" y="1965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onsolas"/>
              </a:rPr>
              <a:t>H8</a:t>
            </a:r>
          </a:p>
        </p:txBody>
      </p:sp>
      <p:cxnSp>
        <p:nvCxnSpPr>
          <p:cNvPr id="2097175" name="Connector 2097174"/>
          <p:cNvCxnSpPr/>
          <p:nvPr/>
        </p:nvCxnSpPr>
        <p:spPr>
          <a:xfrm>
            <a:off x="5151120" y="2194560"/>
            <a:ext cx="0" cy="1600200"/>
          </a:xfrm>
          <a:prstGeom prst="line">
            <a:avLst/>
          </a:prstGeom>
          <a:ln w="9525">
            <a:solidFill>
              <a:srgbClr val="E0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76" name="TextBox 2097175"/>
          <p:cNvSpPr txBox="1"/>
          <p:nvPr/>
        </p:nvSpPr>
        <p:spPr>
          <a:xfrm>
            <a:off x="6492240" y="1965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onsolas"/>
              </a:rPr>
              <a:t>H12</a:t>
            </a:r>
          </a:p>
        </p:txBody>
      </p:sp>
      <p:cxnSp>
        <p:nvCxnSpPr>
          <p:cNvPr id="2097177" name="Connector 2097176"/>
          <p:cNvCxnSpPr/>
          <p:nvPr/>
        </p:nvCxnSpPr>
        <p:spPr>
          <a:xfrm>
            <a:off x="6766560" y="2194560"/>
            <a:ext cx="0" cy="1600200"/>
          </a:xfrm>
          <a:prstGeom prst="line">
            <a:avLst/>
          </a:prstGeom>
          <a:ln w="9525">
            <a:solidFill>
              <a:srgbClr val="E0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78" name="TextBox 2097177"/>
          <p:cNvSpPr txBox="1"/>
          <p:nvPr/>
        </p:nvSpPr>
        <p:spPr>
          <a:xfrm>
            <a:off x="8107679" y="1965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onsolas"/>
              </a:rPr>
              <a:t>H16</a:t>
            </a:r>
          </a:p>
        </p:txBody>
      </p:sp>
      <p:cxnSp>
        <p:nvCxnSpPr>
          <p:cNvPr id="2097179" name="Connector 2097178"/>
          <p:cNvCxnSpPr/>
          <p:nvPr/>
        </p:nvCxnSpPr>
        <p:spPr>
          <a:xfrm>
            <a:off x="8381999" y="2194560"/>
            <a:ext cx="0" cy="1600200"/>
          </a:xfrm>
          <a:prstGeom prst="line">
            <a:avLst/>
          </a:prstGeom>
          <a:ln w="9525">
            <a:solidFill>
              <a:srgbClr val="E0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80" name="TextBox 2097179"/>
          <p:cNvSpPr txBox="1"/>
          <p:nvPr/>
        </p:nvSpPr>
        <p:spPr>
          <a:xfrm>
            <a:off x="9723120" y="1965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onsolas"/>
              </a:rPr>
              <a:t>H20</a:t>
            </a:r>
          </a:p>
        </p:txBody>
      </p:sp>
      <p:cxnSp>
        <p:nvCxnSpPr>
          <p:cNvPr id="2097181" name="Connector 2097180"/>
          <p:cNvCxnSpPr/>
          <p:nvPr/>
        </p:nvCxnSpPr>
        <p:spPr>
          <a:xfrm>
            <a:off x="9997440" y="2194560"/>
            <a:ext cx="0" cy="1600200"/>
          </a:xfrm>
          <a:prstGeom prst="line">
            <a:avLst/>
          </a:prstGeom>
          <a:ln w="9525">
            <a:solidFill>
              <a:srgbClr val="E0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82" name="TextBox 2097181"/>
          <p:cNvSpPr txBox="1"/>
          <p:nvPr/>
        </p:nvSpPr>
        <p:spPr>
          <a:xfrm>
            <a:off x="11338559" y="1965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onsolas"/>
              </a:rPr>
              <a:t>H24</a:t>
            </a:r>
          </a:p>
        </p:txBody>
      </p:sp>
      <p:cxnSp>
        <p:nvCxnSpPr>
          <p:cNvPr id="2097183" name="Connector 2097182"/>
          <p:cNvCxnSpPr/>
          <p:nvPr/>
        </p:nvCxnSpPr>
        <p:spPr>
          <a:xfrm>
            <a:off x="11612880" y="2194560"/>
            <a:ext cx="0" cy="1600200"/>
          </a:xfrm>
          <a:prstGeom prst="line">
            <a:avLst/>
          </a:prstGeom>
          <a:ln w="9525">
            <a:solidFill>
              <a:srgbClr val="E0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84" name="TextBox 2097183"/>
          <p:cNvSpPr txBox="1"/>
          <p:nvPr/>
        </p:nvSpPr>
        <p:spPr>
          <a:xfrm>
            <a:off x="640080" y="228600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21216"/>
                </a:solidFill>
                <a:latin typeface="Calibri"/>
              </a:rPr>
              <a:t>Hardware</a:t>
            </a:r>
          </a:p>
        </p:txBody>
      </p:sp>
      <p:sp>
        <p:nvSpPr>
          <p:cNvPr id="2097185" name="Rectangle 2097184"/>
          <p:cNvSpPr/>
          <p:nvPr/>
        </p:nvSpPr>
        <p:spPr>
          <a:xfrm>
            <a:off x="1938528" y="2286000"/>
            <a:ext cx="1982724" cy="384048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6" name="TextBox 2097185"/>
          <p:cNvSpPr txBox="1"/>
          <p:nvPr/>
        </p:nvSpPr>
        <p:spPr>
          <a:xfrm>
            <a:off x="1993392" y="2286000"/>
            <a:ext cx="19095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Wire sensors + ESP32 firmware</a:t>
            </a:r>
          </a:p>
        </p:txBody>
      </p:sp>
      <p:sp>
        <p:nvSpPr>
          <p:cNvPr id="2097187" name="Rectangle 2097186"/>
          <p:cNvSpPr/>
          <p:nvPr/>
        </p:nvSpPr>
        <p:spPr>
          <a:xfrm>
            <a:off x="3957828" y="2286000"/>
            <a:ext cx="1578864" cy="384048"/>
          </a:xfrm>
          <a:prstGeom prst="rect">
            <a:avLst/>
          </a:prstGeom>
          <a:solidFill>
            <a:srgbClr val="5E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8" name="TextBox 2097187"/>
          <p:cNvSpPr txBox="1"/>
          <p:nvPr/>
        </p:nvSpPr>
        <p:spPr>
          <a:xfrm>
            <a:off x="4012692" y="2286000"/>
            <a:ext cx="15057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Calibrate + mapping run</a:t>
            </a:r>
          </a:p>
        </p:txBody>
      </p:sp>
      <p:sp>
        <p:nvSpPr>
          <p:cNvPr id="2097189" name="Rectangle 2097188"/>
          <p:cNvSpPr/>
          <p:nvPr/>
        </p:nvSpPr>
        <p:spPr>
          <a:xfrm>
            <a:off x="8400288" y="2286000"/>
            <a:ext cx="1578864" cy="384048"/>
          </a:xfrm>
          <a:prstGeom prst="rect">
            <a:avLst/>
          </a:prstGeom>
          <a:solidFill>
            <a:srgbClr val="A8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0" name="TextBox 2097189"/>
          <p:cNvSpPr txBox="1"/>
          <p:nvPr/>
        </p:nvSpPr>
        <p:spPr>
          <a:xfrm>
            <a:off x="8455152" y="2286000"/>
            <a:ext cx="15057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21216"/>
                </a:solidFill>
                <a:latin typeface="Calibri"/>
              </a:rPr>
              <a:t>Mount on drone, test</a:t>
            </a:r>
          </a:p>
        </p:txBody>
      </p:sp>
      <p:sp>
        <p:nvSpPr>
          <p:cNvPr id="2097191" name="TextBox 2097190"/>
          <p:cNvSpPr txBox="1"/>
          <p:nvPr/>
        </p:nvSpPr>
        <p:spPr>
          <a:xfrm>
            <a:off x="640080" y="27889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21216"/>
                </a:solidFill>
                <a:latin typeface="Calibri"/>
              </a:rPr>
              <a:t>Quantum</a:t>
            </a:r>
          </a:p>
        </p:txBody>
      </p:sp>
      <p:sp>
        <p:nvSpPr>
          <p:cNvPr id="2097192" name="Rectangle 2097191"/>
          <p:cNvSpPr/>
          <p:nvPr/>
        </p:nvSpPr>
        <p:spPr>
          <a:xfrm>
            <a:off x="1938528" y="2788920"/>
            <a:ext cx="2386584" cy="384048"/>
          </a:xfrm>
          <a:prstGeom prst="rect">
            <a:avLst/>
          </a:prstGeom>
          <a:solidFill>
            <a:srgbClr val="F23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3" name="TextBox 2097192"/>
          <p:cNvSpPr txBox="1"/>
          <p:nvPr/>
        </p:nvSpPr>
        <p:spPr>
          <a:xfrm>
            <a:off x="1993392" y="2788920"/>
            <a:ext cx="2313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Grover + IPE circuits (Aer)</a:t>
            </a:r>
          </a:p>
        </p:txBody>
      </p:sp>
      <p:sp>
        <p:nvSpPr>
          <p:cNvPr id="2097194" name="Rectangle 2097193"/>
          <p:cNvSpPr/>
          <p:nvPr/>
        </p:nvSpPr>
        <p:spPr>
          <a:xfrm>
            <a:off x="4361688" y="2788920"/>
            <a:ext cx="2386584" cy="384048"/>
          </a:xfrm>
          <a:prstGeom prst="rect">
            <a:avLst/>
          </a:prstGeom>
          <a:solidFill>
            <a:srgbClr val="8A1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5" name="TextBox 2097194"/>
          <p:cNvSpPr txBox="1"/>
          <p:nvPr/>
        </p:nvSpPr>
        <p:spPr>
          <a:xfrm>
            <a:off x="4416552" y="2788920"/>
            <a:ext cx="2313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QSVM on map data</a:t>
            </a:r>
          </a:p>
        </p:txBody>
      </p:sp>
      <p:sp>
        <p:nvSpPr>
          <p:cNvPr id="2097196" name="Rectangle 2097195"/>
          <p:cNvSpPr/>
          <p:nvPr/>
        </p:nvSpPr>
        <p:spPr>
          <a:xfrm>
            <a:off x="6784848" y="2788920"/>
            <a:ext cx="1578864" cy="384048"/>
          </a:xfrm>
          <a:prstGeom prst="rect">
            <a:avLst/>
          </a:prstGeom>
          <a:solidFill>
            <a:srgbClr val="F78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7" name="TextBox 2097196"/>
          <p:cNvSpPr txBox="1"/>
          <p:nvPr/>
        </p:nvSpPr>
        <p:spPr>
          <a:xfrm>
            <a:off x="6839712" y="2788920"/>
            <a:ext cx="15057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21216"/>
                </a:solidFill>
                <a:latin typeface="Calibri"/>
              </a:rPr>
              <a:t>QAOA + IBM run</a:t>
            </a:r>
          </a:p>
        </p:txBody>
      </p:sp>
      <p:sp>
        <p:nvSpPr>
          <p:cNvPr id="2097198" name="TextBox 2097197"/>
          <p:cNvSpPr txBox="1"/>
          <p:nvPr/>
        </p:nvSpPr>
        <p:spPr>
          <a:xfrm>
            <a:off x="640080" y="329184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21216"/>
                </a:solidFill>
                <a:latin typeface="Calibri"/>
              </a:rPr>
              <a:t>Nav + UI</a:t>
            </a:r>
          </a:p>
        </p:txBody>
      </p:sp>
      <p:sp>
        <p:nvSpPr>
          <p:cNvPr id="2097199" name="Rectangle 2097198"/>
          <p:cNvSpPr/>
          <p:nvPr/>
        </p:nvSpPr>
        <p:spPr>
          <a:xfrm>
            <a:off x="2746248" y="3291840"/>
            <a:ext cx="3194304" cy="384048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00" name="TextBox 2097199"/>
          <p:cNvSpPr txBox="1"/>
          <p:nvPr/>
        </p:nvSpPr>
        <p:spPr>
          <a:xfrm>
            <a:off x="2801112" y="3291840"/>
            <a:ext cx="31211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Dead reckoning + particle filter</a:t>
            </a:r>
          </a:p>
        </p:txBody>
      </p:sp>
      <p:sp>
        <p:nvSpPr>
          <p:cNvPr id="2097201" name="Rectangle 2097200"/>
          <p:cNvSpPr/>
          <p:nvPr/>
        </p:nvSpPr>
        <p:spPr>
          <a:xfrm>
            <a:off x="6784848" y="3291840"/>
            <a:ext cx="1578864" cy="384048"/>
          </a:xfrm>
          <a:prstGeom prst="rect">
            <a:avLst/>
          </a:prstGeom>
          <a:solidFill>
            <a:srgbClr val="5E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02" name="TextBox 2097201"/>
          <p:cNvSpPr txBox="1"/>
          <p:nvPr/>
        </p:nvSpPr>
        <p:spPr>
          <a:xfrm>
            <a:off x="6839712" y="3291840"/>
            <a:ext cx="15057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Integrate quantum → filter</a:t>
            </a:r>
          </a:p>
        </p:txBody>
      </p:sp>
      <p:sp>
        <p:nvSpPr>
          <p:cNvPr id="2097203" name="Rectangle 2097202"/>
          <p:cNvSpPr/>
          <p:nvPr/>
        </p:nvSpPr>
        <p:spPr>
          <a:xfrm>
            <a:off x="8400288" y="3291840"/>
            <a:ext cx="1578864" cy="384048"/>
          </a:xfrm>
          <a:prstGeom prst="rect">
            <a:avLst/>
          </a:prstGeom>
          <a:solidFill>
            <a:srgbClr val="A8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04" name="TextBox 2097203"/>
          <p:cNvSpPr txBox="1"/>
          <p:nvPr/>
        </p:nvSpPr>
        <p:spPr>
          <a:xfrm>
            <a:off x="8455152" y="3291840"/>
            <a:ext cx="15057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21216"/>
                </a:solidFill>
                <a:latin typeface="Calibri"/>
              </a:rPr>
              <a:t>Dashboard</a:t>
            </a:r>
          </a:p>
        </p:txBody>
      </p:sp>
      <p:sp>
        <p:nvSpPr>
          <p:cNvPr id="2097205" name="Rectangle 2097204"/>
          <p:cNvSpPr/>
          <p:nvPr/>
        </p:nvSpPr>
        <p:spPr>
          <a:xfrm>
            <a:off x="10015728" y="2286000"/>
            <a:ext cx="1578864" cy="1389888"/>
          </a:xfrm>
          <a:prstGeom prst="rect">
            <a:avLst/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06" name="TextBox 2097205"/>
          <p:cNvSpPr txBox="1"/>
          <p:nvPr/>
        </p:nvSpPr>
        <p:spPr>
          <a:xfrm>
            <a:off x="10088880" y="2286000"/>
            <a:ext cx="1432560" cy="1389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145E"/>
                </a:solidFill>
                <a:latin typeface="Calibri"/>
              </a:rPr>
              <a:t>Rehearse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E5E6A"/>
                </a:solidFill>
                <a:latin typeface="Calibri"/>
              </a:rPr>
              <a:t>record backup video</a:t>
            </a:r>
          </a:p>
        </p:txBody>
      </p:sp>
      <p:sp>
        <p:nvSpPr>
          <p:cNvPr id="2097207" name="Rectangle 2097206"/>
          <p:cNvSpPr/>
          <p:nvPr/>
        </p:nvSpPr>
        <p:spPr>
          <a:xfrm>
            <a:off x="640080" y="3977639"/>
            <a:ext cx="3520440" cy="1600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08" name="TextBox 2097207"/>
          <p:cNvSpPr txBox="1"/>
          <p:nvPr/>
        </p:nvSpPr>
        <p:spPr>
          <a:xfrm>
            <a:off x="804671" y="4087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216"/>
                </a:solidFill>
                <a:latin typeface="Cambria"/>
              </a:rPr>
              <a:t>Level 1 · guaranteed</a:t>
            </a:r>
          </a:p>
        </p:txBody>
      </p:sp>
      <p:sp>
        <p:nvSpPr>
          <p:cNvPr id="2097209" name="TextBox 2097208"/>
          <p:cNvSpPr txBox="1"/>
          <p:nvPr/>
        </p:nvSpPr>
        <p:spPr>
          <a:xfrm>
            <a:off x="804671" y="4407408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E5E6A"/>
                </a:solidFill>
                <a:latin typeface="Calibri"/>
              </a:rPr>
              <a:t>Payload carried along the mapped corridor; live dashboard shows drift vs correction.</a:t>
            </a:r>
          </a:p>
        </p:txBody>
      </p:sp>
      <p:sp>
        <p:nvSpPr>
          <p:cNvPr id="2097210" name="Rectangle 2097209"/>
          <p:cNvSpPr/>
          <p:nvPr/>
        </p:nvSpPr>
        <p:spPr>
          <a:xfrm>
            <a:off x="4343400" y="3977639"/>
            <a:ext cx="3520440" cy="1600200"/>
          </a:xfrm>
          <a:prstGeom prst="rect">
            <a:avLst/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11" name="TextBox 2097210"/>
          <p:cNvSpPr txBox="1"/>
          <p:nvPr/>
        </p:nvSpPr>
        <p:spPr>
          <a:xfrm>
            <a:off x="4507992" y="4087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216"/>
                </a:solidFill>
                <a:latin typeface="Cambria"/>
              </a:rPr>
              <a:t>Level 2 · main demo</a:t>
            </a:r>
          </a:p>
        </p:txBody>
      </p:sp>
      <p:sp>
        <p:nvSpPr>
          <p:cNvPr id="2097212" name="TextBox 2097211"/>
          <p:cNvSpPr txBox="1"/>
          <p:nvPr/>
        </p:nvSpPr>
        <p:spPr>
          <a:xfrm>
            <a:off x="4507992" y="4407408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E5E6A"/>
                </a:solidFill>
                <a:latin typeface="Calibri"/>
              </a:rPr>
              <a:t>Payload mounted on a borrowed drone, carried or tethered; full flight replayed in ArduPilot SITL on our real map.</a:t>
            </a:r>
          </a:p>
        </p:txBody>
      </p:sp>
      <p:sp>
        <p:nvSpPr>
          <p:cNvPr id="2097213" name="Rectangle 2097212"/>
          <p:cNvSpPr/>
          <p:nvPr/>
        </p:nvSpPr>
        <p:spPr>
          <a:xfrm>
            <a:off x="8046719" y="3977639"/>
            <a:ext cx="3520440" cy="1600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214" name="TextBox 2097213"/>
          <p:cNvSpPr txBox="1"/>
          <p:nvPr/>
        </p:nvSpPr>
        <p:spPr>
          <a:xfrm>
            <a:off x="8211311" y="4087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216"/>
                </a:solidFill>
                <a:latin typeface="Cambria"/>
              </a:rPr>
              <a:t>Level 3 · bonus</a:t>
            </a:r>
          </a:p>
        </p:txBody>
      </p:sp>
      <p:sp>
        <p:nvSpPr>
          <p:cNvPr id="2097215" name="TextBox 2097214"/>
          <p:cNvSpPr txBox="1"/>
          <p:nvPr/>
        </p:nvSpPr>
        <p:spPr>
          <a:xfrm>
            <a:off x="8211311" y="4407408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E5E6A"/>
                </a:solidFill>
                <a:latin typeface="Calibri"/>
              </a:rPr>
              <a:t>Short real flight with GPS disabled in software, only if a flight-ready drone and venue permission exist.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2" name=""/>
        <p:cNvGrpSpPr/>
        <p:nvPr/>
      </p:nvGrpSpPr>
      <p:grpSpPr>
        <a:xfrm/>
      </p:grpSpPr>
      <p:pic>
        <p:nvPicPr>
          <p:cNvPr id="2097168" name="Picture 1" descr="rgukt_clea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8912" y="292608"/>
            <a:ext cx="473583" cy="585216"/>
          </a:xfrm>
          <a:prstGeom prst="rect"/>
        </p:spPr>
      </p:pic>
      <p:pic>
        <p:nvPicPr>
          <p:cNvPr id="2097169" name="Picture 2" descr="qiskit_clea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716768" y="246888"/>
            <a:ext cx="694944" cy="694944"/>
          </a:xfrm>
          <a:prstGeom prst="rect"/>
        </p:spPr>
      </p:pic>
      <p:sp>
        <p:nvSpPr>
          <p:cNvPr id="1048712" name="TextBox 3"/>
          <p:cNvSpPr txBox="1"/>
          <p:nvPr/>
        </p:nvSpPr>
        <p:spPr>
          <a:xfrm>
            <a:off x="2052650" y="692911"/>
            <a:ext cx="6929320" cy="497840"/>
          </a:xfrm>
          <a:prstGeom prst="rect"/>
          <a:noFill/>
        </p:spPr>
        <p:txBody>
          <a:bodyPr anchor="ctr" wrap="square">
            <a:spAutoFit/>
          </a:bodyPr>
          <a:p>
            <a:pPr algn="ctr"/>
            <a:r>
              <a:rPr b="1" sz="2600">
                <a:solidFill>
                  <a:srgbClr val="121216"/>
                </a:solidFill>
                <a:latin typeface="Cambria"/>
              </a:rPr>
              <a:t>EXPECTED RESULTS &amp; IMPACT</a:t>
            </a:r>
            <a:endParaRPr altLang="en-US" lang="zh-CN"/>
          </a:p>
        </p:txBody>
      </p:sp>
      <p:sp>
        <p:nvSpPr>
          <p:cNvPr id="1048717" name="Rectangle 8"/>
          <p:cNvSpPr/>
          <p:nvPr/>
        </p:nvSpPr>
        <p:spPr>
          <a:xfrm>
            <a:off x="365760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8" name="Rectangle 9"/>
          <p:cNvSpPr/>
          <p:nvPr/>
        </p:nvSpPr>
        <p:spPr>
          <a:xfrm>
            <a:off x="77724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9" name="Parallelogram 10"/>
          <p:cNvSpPr/>
          <p:nvPr/>
        </p:nvSpPr>
        <p:spPr>
          <a:xfrm>
            <a:off x="310896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0" name="Parallelogram 11"/>
          <p:cNvSpPr/>
          <p:nvPr/>
        </p:nvSpPr>
        <p:spPr>
          <a:xfrm>
            <a:off x="11475720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1" name="Rectangle 12"/>
          <p:cNvSpPr/>
          <p:nvPr/>
        </p:nvSpPr>
        <p:spPr>
          <a:xfrm>
            <a:off x="982980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2" name="Rectangle 13"/>
          <p:cNvSpPr/>
          <p:nvPr/>
        </p:nvSpPr>
        <p:spPr>
          <a:xfrm>
            <a:off x="11311128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3" name="Oval 14"/>
          <p:cNvSpPr/>
          <p:nvPr/>
        </p:nvSpPr>
        <p:spPr>
          <a:xfrm>
            <a:off x="5852160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4" name="Oval 15"/>
          <p:cNvSpPr/>
          <p:nvPr/>
        </p:nvSpPr>
        <p:spPr>
          <a:xfrm>
            <a:off x="6016752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5" name="Oval 16"/>
          <p:cNvSpPr/>
          <p:nvPr/>
        </p:nvSpPr>
        <p:spPr>
          <a:xfrm>
            <a:off x="6181344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6" name="TextBox 17"/>
          <p:cNvSpPr txBox="1"/>
          <p:nvPr/>
        </p:nvSpPr>
        <p:spPr>
          <a:xfrm>
            <a:off x="566928" y="6133338"/>
            <a:ext cx="1485722" cy="205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850">
                <a:solidFill>
                  <a:srgbClr val="121216"/>
                </a:solidFill>
                <a:latin typeface="Aptos"/>
              </a:rPr>
              <a:t>PLUS QISKIT FALL FEST 2026</a:t>
            </a:r>
          </a:p>
        </p:txBody>
      </p:sp>
      <p:sp>
        <p:nvSpPr>
          <p:cNvPr id="1048727" name="TextBox 18"/>
          <p:cNvSpPr txBox="1"/>
          <p:nvPr/>
        </p:nvSpPr>
        <p:spPr>
          <a:xfrm>
            <a:off x="11018520" y="6126988"/>
            <a:ext cx="309880" cy="218440"/>
          </a:xfrm>
          <a:prstGeom prst="rect"/>
          <a:noFill/>
        </p:spPr>
        <p:txBody>
          <a:bodyPr anchor="ctr" wrap="none">
            <a:spAutoFit/>
          </a:bodyPr>
          <a:p>
            <a:pPr algn="r"/>
            <a:r>
              <a:rPr b="0" sz="900">
                <a:solidFill>
                  <a:srgbClr val="121216"/>
                </a:solidFill>
                <a:latin typeface="Aptos"/>
              </a:rPr>
              <a:t>09</a:t>
            </a:r>
          </a:p>
        </p:txBody>
      </p:sp>
      <p:sp>
        <p:nvSpPr>
          <p:cNvPr id="2097170" name="TextBox 2097169"/>
          <p:cNvSpPr txBox="1"/>
          <p:nvPr/>
        </p:nvSpPr>
        <p:spPr>
          <a:xfrm>
            <a:off x="1097280" y="1261872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5E5E6A"/>
                </a:solidFill>
                <a:latin typeface="Cambria"/>
              </a:rPr>
              <a:t>Early results from our own Qiskit runs and navigation simulation.</a:t>
            </a:r>
          </a:p>
        </p:txBody>
      </p:sp>
      <p:graphicFrame>
        <p:nvGraphicFramePr>
          <p:cNvPr id="2097171" name="Chart 2097170"/>
          <p:cNvGraphicFramePr>
            <a:graphicFrameLocks noGrp="1"/>
          </p:cNvGraphicFramePr>
          <p:nvPr/>
        </p:nvGraphicFramePr>
        <p:xfrm>
          <a:off x="548640" y="1691640"/>
          <a:ext cx="3931920" cy="2788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97172" name="TextBox 2097171"/>
          <p:cNvSpPr txBox="1"/>
          <p:nvPr/>
        </p:nvSpPr>
        <p:spPr>
          <a:xfrm>
            <a:off x="640080" y="452628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A145E"/>
                </a:solidFill>
                <a:latin typeface="Calibri"/>
              </a:rPr>
              <a:t>0110 + 1011 = 94% of shots. </a:t>
            </a:r>
            <a:r>
              <a:rPr sz="1050" b="0" i="0">
                <a:solidFill>
                  <a:srgbClr val="5E5E6A"/>
                </a:solidFill>
                <a:latin typeface="Calibri"/>
              </a:rPr>
              <a:t>Grover returns 2 look-alike cells; QSVM breaks the tie.</a:t>
            </a:r>
          </a:p>
        </p:txBody>
      </p:sp>
      <p:graphicFrame>
        <p:nvGraphicFramePr>
          <p:cNvPr id="2097173" name="Chart 2097172"/>
          <p:cNvGraphicFramePr>
            <a:graphicFrameLocks noGrp="1"/>
          </p:cNvGraphicFramePr>
          <p:nvPr/>
        </p:nvGraphicFramePr>
        <p:xfrm>
          <a:off x="4617720" y="1691640"/>
          <a:ext cx="3977639" cy="27889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pic>
        <p:nvPicPr>
          <p:cNvPr id="2097174" name="Picture 2097173" descr="ker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737360"/>
            <a:ext cx="2377440" cy="2377440"/>
          </a:xfrm>
          <a:prstGeom prst="rect">
            <a:avLst/>
          </a:prstGeom>
        </p:spPr>
      </p:pic>
      <p:sp>
        <p:nvSpPr>
          <p:cNvPr id="2097175" name="TextBox 2097174"/>
          <p:cNvSpPr txBox="1"/>
          <p:nvPr/>
        </p:nvSpPr>
        <p:spPr>
          <a:xfrm>
            <a:off x="8778240" y="416052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A145E"/>
                </a:solidFill>
                <a:latin typeface="Calibri"/>
              </a:rPr>
              <a:t>Quantum kernel matrix. </a:t>
            </a:r>
            <a:r>
              <a:rPr sz="1050" b="0" i="0">
                <a:solidFill>
                  <a:srgbClr val="5E5E6A"/>
                </a:solidFill>
                <a:latin typeface="Calibri"/>
              </a:rPr>
              <a:t>Same-zone fingerprints overlap ~2.8× more than cross-zone ones (0.24 vs 0.09).</a:t>
            </a:r>
          </a:p>
        </p:txBody>
      </p:sp>
      <p:sp>
        <p:nvSpPr>
          <p:cNvPr id="2097176" name="Rectangle 2097175"/>
          <p:cNvSpPr/>
          <p:nvPr/>
        </p:nvSpPr>
        <p:spPr>
          <a:xfrm>
            <a:off x="640080" y="5029200"/>
            <a:ext cx="3520440" cy="566928"/>
          </a:xfrm>
          <a:prstGeom prst="rect">
            <a:avLst/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7" name="TextBox 2097176"/>
          <p:cNvSpPr txBox="1"/>
          <p:nvPr/>
        </p:nvSpPr>
        <p:spPr>
          <a:xfrm>
            <a:off x="777240" y="5029200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237A6"/>
                </a:solidFill>
                <a:latin typeface="Cambria"/>
              </a:rPr>
              <a:t>~50×</a:t>
            </a:r>
          </a:p>
        </p:txBody>
      </p:sp>
      <p:sp>
        <p:nvSpPr>
          <p:cNvPr id="2097178" name="TextBox 2097177"/>
          <p:cNvSpPr txBox="1"/>
          <p:nvPr/>
        </p:nvSpPr>
        <p:spPr>
          <a:xfrm>
            <a:off x="1783080" y="502920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216"/>
                </a:solidFill>
                <a:latin typeface="Calibri"/>
              </a:rPr>
              <a:t>lower drift vs inertial-only (MEMS model)</a:t>
            </a:r>
          </a:p>
        </p:txBody>
      </p:sp>
      <p:sp>
        <p:nvSpPr>
          <p:cNvPr id="2097179" name="Rectangle 2097178"/>
          <p:cNvSpPr/>
          <p:nvPr/>
        </p:nvSpPr>
        <p:spPr>
          <a:xfrm>
            <a:off x="4343400" y="5029200"/>
            <a:ext cx="3520440" cy="566928"/>
          </a:xfrm>
          <a:prstGeom prst="rect">
            <a:avLst/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0" name="TextBox 2097179"/>
          <p:cNvSpPr txBox="1"/>
          <p:nvPr/>
        </p:nvSpPr>
        <p:spPr>
          <a:xfrm>
            <a:off x="4480560" y="5029200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237A6"/>
                </a:solidFill>
                <a:latin typeface="Cambria"/>
              </a:rPr>
              <a:t>~6×</a:t>
            </a:r>
          </a:p>
        </p:txBody>
      </p:sp>
      <p:sp>
        <p:nvSpPr>
          <p:cNvPr id="2097181" name="TextBox 2097180"/>
          <p:cNvSpPr txBox="1"/>
          <p:nvPr/>
        </p:nvSpPr>
        <p:spPr>
          <a:xfrm>
            <a:off x="5486400" y="502920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216"/>
                </a:solidFill>
                <a:latin typeface="Calibri"/>
              </a:rPr>
              <a:t>further gain with a quantum (NV) magnetometer</a:t>
            </a:r>
          </a:p>
        </p:txBody>
      </p:sp>
      <p:sp>
        <p:nvSpPr>
          <p:cNvPr id="2097182" name="Rectangle 2097181"/>
          <p:cNvSpPr/>
          <p:nvPr/>
        </p:nvSpPr>
        <p:spPr>
          <a:xfrm>
            <a:off x="8046719" y="5029200"/>
            <a:ext cx="3520440" cy="566928"/>
          </a:xfrm>
          <a:prstGeom prst="rect">
            <a:avLst/>
          </a:prstGeom>
          <a:solidFill>
            <a:srgbClr val="FD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3" name="TextBox 2097182"/>
          <p:cNvSpPr txBox="1"/>
          <p:nvPr/>
        </p:nvSpPr>
        <p:spPr>
          <a:xfrm>
            <a:off x="8183879" y="5029200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237A6"/>
                </a:solidFill>
                <a:latin typeface="Cambria"/>
              </a:rPr>
              <a:t>0 W</a:t>
            </a:r>
          </a:p>
        </p:txBody>
      </p:sp>
      <p:sp>
        <p:nvSpPr>
          <p:cNvPr id="2097184" name="TextBox 2097183"/>
          <p:cNvSpPr txBox="1"/>
          <p:nvPr/>
        </p:nvSpPr>
        <p:spPr>
          <a:xfrm>
            <a:off x="9189719" y="502920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1216"/>
                </a:solidFill>
                <a:latin typeface="Calibri"/>
              </a:rPr>
              <a:t>radio emission: fully passive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3" name=""/>
        <p:cNvGrpSpPr/>
        <p:nvPr/>
      </p:nvGrpSpPr>
      <p:grpSpPr>
        <a:xfrm/>
      </p:grpSpPr>
      <p:pic>
        <p:nvPicPr>
          <p:cNvPr id="2097170" name="Picture 1" descr="rgukt_clea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8912" y="292608"/>
            <a:ext cx="473583" cy="585216"/>
          </a:xfrm>
          <a:prstGeom prst="rect"/>
        </p:spPr>
      </p:pic>
      <p:pic>
        <p:nvPicPr>
          <p:cNvPr id="2097171" name="Picture 2" descr="qiskit_clea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716768" y="246888"/>
            <a:ext cx="694944" cy="694944"/>
          </a:xfrm>
          <a:prstGeom prst="rect"/>
        </p:spPr>
      </p:pic>
      <p:sp>
        <p:nvSpPr>
          <p:cNvPr id="1048728" name="TextBox 3"/>
          <p:cNvSpPr txBox="1"/>
          <p:nvPr/>
        </p:nvSpPr>
        <p:spPr>
          <a:xfrm>
            <a:off x="2463645" y="692912"/>
            <a:ext cx="6831895" cy="497840"/>
          </a:xfrm>
          <a:prstGeom prst="rect"/>
          <a:noFill/>
        </p:spPr>
        <p:txBody>
          <a:bodyPr anchor="ctr" wrap="square">
            <a:spAutoFit/>
          </a:bodyPr>
          <a:p>
            <a:pPr algn="ctr"/>
            <a:r>
              <a:rPr b="1" sz="2600">
                <a:solidFill>
                  <a:srgbClr val="121216"/>
                </a:solidFill>
                <a:latin typeface="Cambria"/>
              </a:rPr>
              <a:t>FUTURE SCOPE &amp; CONCLUSION</a:t>
            </a:r>
            <a:endParaRPr altLang="en-US" lang="zh-CN"/>
          </a:p>
        </p:txBody>
      </p:sp>
      <p:sp>
        <p:nvSpPr>
          <p:cNvPr id="1048733" name="Rectangle 8"/>
          <p:cNvSpPr/>
          <p:nvPr/>
        </p:nvSpPr>
        <p:spPr>
          <a:xfrm>
            <a:off x="365760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4" name="Rectangle 9"/>
          <p:cNvSpPr/>
          <p:nvPr/>
        </p:nvSpPr>
        <p:spPr>
          <a:xfrm>
            <a:off x="77724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5" name="Parallelogram 10"/>
          <p:cNvSpPr/>
          <p:nvPr/>
        </p:nvSpPr>
        <p:spPr>
          <a:xfrm>
            <a:off x="310896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6" name="Parallelogram 11"/>
          <p:cNvSpPr/>
          <p:nvPr/>
        </p:nvSpPr>
        <p:spPr>
          <a:xfrm>
            <a:off x="11475720" y="5705855"/>
            <a:ext cx="320040" cy="109728"/>
          </a:xfrm>
          <a:prstGeom prst="parallelogram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7" name="Rectangle 12"/>
          <p:cNvSpPr/>
          <p:nvPr/>
        </p:nvSpPr>
        <p:spPr>
          <a:xfrm>
            <a:off x="9829800" y="5806440"/>
            <a:ext cx="160020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8" name="Rectangle 13"/>
          <p:cNvSpPr/>
          <p:nvPr/>
        </p:nvSpPr>
        <p:spPr>
          <a:xfrm>
            <a:off x="11311128" y="5806440"/>
            <a:ext cx="502920" cy="16459"/>
          </a:xfrm>
          <a:prstGeom prst="rect"/>
          <a:solidFill>
            <a:srgbClr val="F23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9" name="Oval 14"/>
          <p:cNvSpPr/>
          <p:nvPr/>
        </p:nvSpPr>
        <p:spPr>
          <a:xfrm>
            <a:off x="5852160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0" name="Oval 15"/>
          <p:cNvSpPr/>
          <p:nvPr/>
        </p:nvSpPr>
        <p:spPr>
          <a:xfrm>
            <a:off x="6016752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1" name="Oval 16"/>
          <p:cNvSpPr/>
          <p:nvPr/>
        </p:nvSpPr>
        <p:spPr>
          <a:xfrm>
            <a:off x="6181344" y="5788152"/>
            <a:ext cx="54864" cy="54864"/>
          </a:xfrm>
          <a:prstGeom prst="ellipse"/>
          <a:solidFill>
            <a:srgbClr val="FF6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2" name="TextBox 17"/>
          <p:cNvSpPr txBox="1"/>
          <p:nvPr/>
        </p:nvSpPr>
        <p:spPr>
          <a:xfrm>
            <a:off x="566928" y="6133338"/>
            <a:ext cx="1485722" cy="205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850">
                <a:solidFill>
                  <a:srgbClr val="121216"/>
                </a:solidFill>
                <a:latin typeface="Aptos"/>
              </a:rPr>
              <a:t>PLUS QISKIT FALL FEST 2026</a:t>
            </a:r>
          </a:p>
        </p:txBody>
      </p:sp>
      <p:sp>
        <p:nvSpPr>
          <p:cNvPr id="1048743" name="TextBox 18"/>
          <p:cNvSpPr txBox="1"/>
          <p:nvPr/>
        </p:nvSpPr>
        <p:spPr>
          <a:xfrm>
            <a:off x="11018520" y="6126988"/>
            <a:ext cx="297180" cy="218440"/>
          </a:xfrm>
          <a:prstGeom prst="rect"/>
          <a:noFill/>
        </p:spPr>
        <p:txBody>
          <a:bodyPr anchor="ctr" wrap="none">
            <a:spAutoFit/>
          </a:bodyPr>
          <a:p>
            <a:pPr algn="r"/>
            <a:r>
              <a:rPr b="0" sz="900">
                <a:solidFill>
                  <a:srgbClr val="121216"/>
                </a:solidFill>
                <a:latin typeface="Aptos"/>
              </a:rPr>
              <a:t>10</a:t>
            </a:r>
          </a:p>
        </p:txBody>
      </p:sp>
      <p:sp>
        <p:nvSpPr>
          <p:cNvPr id="2097172" name="TextBox 2097171"/>
          <p:cNvSpPr txBox="1"/>
          <p:nvPr/>
        </p:nvSpPr>
        <p:spPr>
          <a:xfrm>
            <a:off x="1097280" y="1261872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5E5E6A"/>
                </a:solidFill>
                <a:latin typeface="Cambria"/>
              </a:rPr>
              <a:t>From a hackathon payload to a field-ready quantum PNT module.</a:t>
            </a:r>
          </a:p>
        </p:txBody>
      </p:sp>
      <p:cxnSp>
        <p:nvCxnSpPr>
          <p:cNvPr id="2097173" name="Connector 2097172"/>
          <p:cNvCxnSpPr/>
          <p:nvPr/>
        </p:nvCxnSpPr>
        <p:spPr>
          <a:xfrm>
            <a:off x="868680" y="2011680"/>
            <a:ext cx="10469880" cy="0"/>
          </a:xfrm>
          <a:prstGeom prst="line">
            <a:avLst/>
          </a:prstGeom>
          <a:ln w="15875">
            <a:solidFill>
              <a:srgbClr val="1212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7174" name="Oval 2097173"/>
          <p:cNvSpPr/>
          <p:nvPr/>
        </p:nvSpPr>
        <p:spPr>
          <a:xfrm>
            <a:off x="731519" y="1856231"/>
            <a:ext cx="310896" cy="310896"/>
          </a:xfrm>
          <a:prstGeom prst="ellipse">
            <a:avLst/>
          </a:prstGeom>
          <a:solidFill>
            <a:srgbClr val="F23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97175" name="TextBox 2097174"/>
          <p:cNvSpPr txBox="1"/>
          <p:nvPr/>
        </p:nvSpPr>
        <p:spPr>
          <a:xfrm>
            <a:off x="640080" y="233172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NOW · TRL 3</a:t>
            </a:r>
          </a:p>
        </p:txBody>
      </p:sp>
      <p:sp>
        <p:nvSpPr>
          <p:cNvPr id="2097176" name="TextBox 2097175"/>
          <p:cNvSpPr txBox="1"/>
          <p:nvPr/>
        </p:nvSpPr>
        <p:spPr>
          <a:xfrm>
            <a:off x="640080" y="2578608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6"/>
                </a:solidFill>
                <a:latin typeface="Cambria"/>
              </a:rPr>
              <a:t>Hackathon</a:t>
            </a:r>
          </a:p>
        </p:txBody>
      </p:sp>
      <p:sp>
        <p:nvSpPr>
          <p:cNvPr id="2097177" name="TextBox 2097176"/>
          <p:cNvSpPr txBox="1"/>
          <p:nvPr/>
        </p:nvSpPr>
        <p:spPr>
          <a:xfrm>
            <a:off x="640080" y="292608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E5E6A"/>
                </a:solidFill>
                <a:latin typeface="Calibri"/>
              </a:rPr>
              <a:t>Payload prototype, 16-cell map, 4 quantum blocks on Aer + one IBM hardware run, live dashboard.</a:t>
            </a:r>
          </a:p>
        </p:txBody>
      </p:sp>
      <p:sp>
        <p:nvSpPr>
          <p:cNvPr id="2097178" name="Oval 2097177"/>
          <p:cNvSpPr/>
          <p:nvPr/>
        </p:nvSpPr>
        <p:spPr>
          <a:xfrm>
            <a:off x="3520440" y="1856231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3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97179" name="TextBox 2097178"/>
          <p:cNvSpPr txBox="1"/>
          <p:nvPr/>
        </p:nvSpPr>
        <p:spPr>
          <a:xfrm>
            <a:off x="3429000" y="233172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6 MONTHS · TRL 4</a:t>
            </a:r>
          </a:p>
        </p:txBody>
      </p:sp>
      <p:sp>
        <p:nvSpPr>
          <p:cNvPr id="2097180" name="TextBox 2097179"/>
          <p:cNvSpPr txBox="1"/>
          <p:nvPr/>
        </p:nvSpPr>
        <p:spPr>
          <a:xfrm>
            <a:off x="3429000" y="2578608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6"/>
                </a:solidFill>
                <a:latin typeface="Cambria"/>
              </a:rPr>
              <a:t>Scale the map</a:t>
            </a:r>
          </a:p>
        </p:txBody>
      </p:sp>
      <p:sp>
        <p:nvSpPr>
          <p:cNvPr id="2097181" name="TextBox 2097180"/>
          <p:cNvSpPr txBox="1"/>
          <p:nvPr/>
        </p:nvSpPr>
        <p:spPr>
          <a:xfrm>
            <a:off x="3429000" y="292608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E5E6A"/>
                </a:solidFill>
                <a:latin typeface="Calibri"/>
              </a:rPr>
              <a:t>Campus and outdoor anomaly maps (NGRI / EMAG2), larger Grover circuits, tethered drone trials.</a:t>
            </a:r>
          </a:p>
        </p:txBody>
      </p:sp>
      <p:sp>
        <p:nvSpPr>
          <p:cNvPr id="2097182" name="Oval 2097181"/>
          <p:cNvSpPr/>
          <p:nvPr/>
        </p:nvSpPr>
        <p:spPr>
          <a:xfrm>
            <a:off x="6309359" y="1856231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3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97183" name="TextBox 2097182"/>
          <p:cNvSpPr txBox="1"/>
          <p:nvPr/>
        </p:nvSpPr>
        <p:spPr>
          <a:xfrm>
            <a:off x="6217920" y="233172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18 MONTHS · TRL 5</a:t>
            </a:r>
          </a:p>
        </p:txBody>
      </p:sp>
      <p:sp>
        <p:nvSpPr>
          <p:cNvPr id="2097184" name="TextBox 2097183"/>
          <p:cNvSpPr txBox="1"/>
          <p:nvPr/>
        </p:nvSpPr>
        <p:spPr>
          <a:xfrm>
            <a:off x="6217920" y="2578608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6"/>
                </a:solidFill>
                <a:latin typeface="Cambria"/>
              </a:rPr>
              <a:t>Quantum sensor</a:t>
            </a:r>
          </a:p>
        </p:txBody>
      </p:sp>
      <p:sp>
        <p:nvSpPr>
          <p:cNvPr id="2097185" name="TextBox 2097184"/>
          <p:cNvSpPr txBox="1"/>
          <p:nvPr/>
        </p:nvSpPr>
        <p:spPr>
          <a:xfrm>
            <a:off x="6217920" y="292608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E5E6A"/>
                </a:solidFill>
                <a:latin typeface="Calibri"/>
              </a:rPr>
              <a:t>Swap in an NV-diamond magnetometer with an NQM sensing-hub partner; quantum IMU fusion.</a:t>
            </a:r>
          </a:p>
        </p:txBody>
      </p:sp>
      <p:sp>
        <p:nvSpPr>
          <p:cNvPr id="2097186" name="Oval 2097185"/>
          <p:cNvSpPr/>
          <p:nvPr/>
        </p:nvSpPr>
        <p:spPr>
          <a:xfrm>
            <a:off x="9098279" y="1856231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3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97187" name="TextBox 2097186"/>
          <p:cNvSpPr txBox="1"/>
          <p:nvPr/>
        </p:nvSpPr>
        <p:spPr>
          <a:xfrm>
            <a:off x="9006839" y="233172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200">
                <a:solidFill>
                  <a:srgbClr val="F237A6"/>
                </a:solidFill>
                <a:latin typeface="Consolas"/>
              </a:rPr>
              <a:t>36 MONTHS · TRL 6</a:t>
            </a:r>
          </a:p>
        </p:txBody>
      </p:sp>
      <p:sp>
        <p:nvSpPr>
          <p:cNvPr id="2097188" name="TextBox 2097187"/>
          <p:cNvSpPr txBox="1"/>
          <p:nvPr/>
        </p:nvSpPr>
        <p:spPr>
          <a:xfrm>
            <a:off x="9006839" y="2578608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6"/>
                </a:solidFill>
                <a:latin typeface="Cambria"/>
              </a:rPr>
              <a:t>Defence trials</a:t>
            </a:r>
          </a:p>
        </p:txBody>
      </p:sp>
      <p:sp>
        <p:nvSpPr>
          <p:cNvPr id="2097189" name="TextBox 2097188"/>
          <p:cNvSpPr txBox="1"/>
          <p:nvPr/>
        </p:nvSpPr>
        <p:spPr>
          <a:xfrm>
            <a:off x="9006839" y="292608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E5E6A"/>
                </a:solidFill>
                <a:latin typeface="Calibri"/>
              </a:rPr>
              <a:t>Ruggedised module with DRDO / iDEX partners on UAVs, loitering systems and vehicles.</a:t>
            </a:r>
          </a:p>
        </p:txBody>
      </p:sp>
      <p:sp>
        <p:nvSpPr>
          <p:cNvPr id="2097190" name="Rectangle 2097189"/>
          <p:cNvSpPr/>
          <p:nvPr/>
        </p:nvSpPr>
        <p:spPr>
          <a:xfrm>
            <a:off x="640080" y="4069080"/>
            <a:ext cx="10972800" cy="150876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1" name="TextBox 2097190"/>
          <p:cNvSpPr txBox="1"/>
          <p:nvPr/>
        </p:nvSpPr>
        <p:spPr>
          <a:xfrm>
            <a:off x="914400" y="4206240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1">
                <a:solidFill>
                  <a:srgbClr val="FFFFFF"/>
                </a:solidFill>
                <a:latin typeface="Cambria"/>
              </a:rPr>
              <a:t>"When GPS goes dark, the ground still knows where you are."</a:t>
            </a:r>
          </a:p>
        </p:txBody>
      </p:sp>
      <p:sp>
        <p:nvSpPr>
          <p:cNvPr id="2097192" name="TextBox 2097191"/>
          <p:cNvSpPr txBox="1"/>
          <p:nvPr/>
        </p:nvSpPr>
        <p:spPr>
          <a:xfrm>
            <a:off x="914400" y="498348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D6D6DE"/>
                </a:solidFill>
                <a:latin typeface="Calibri"/>
              </a:rPr>
              <a:t>VOID-NAV: quantum sensing, quantum search, quantum learning and quantum planning, flying on one passive payload.</a:t>
            </a:r>
          </a:p>
        </p:txBody>
      </p:sp>
      <p:sp>
        <p:nvSpPr>
          <p:cNvPr id="2097193" name="TextBox 2097192"/>
          <p:cNvSpPr txBox="1"/>
          <p:nvPr/>
        </p:nvSpPr>
        <p:spPr>
          <a:xfrm>
            <a:off x="8686800" y="4297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Team VOID</a:t>
            </a:r>
          </a:p>
        </p:txBody>
      </p:sp>
      <p:sp>
        <p:nvSpPr>
          <p:cNvPr id="2097194" name="Rounded Rectangle 2097193"/>
          <p:cNvSpPr/>
          <p:nvPr/>
        </p:nvSpPr>
        <p:spPr>
          <a:xfrm>
            <a:off x="8641080" y="5047488"/>
            <a:ext cx="27889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5" name="TextBox 2097194"/>
          <p:cNvSpPr txBox="1"/>
          <p:nvPr/>
        </p:nvSpPr>
        <p:spPr>
          <a:xfrm>
            <a:off x="8641080" y="5047488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237A6"/>
                </a:solidFill>
                <a:latin typeface="Calibri"/>
              </a:rPr>
              <a:t>Video: </a:t>
            </a:r>
            <a:r>
              <a:rPr sz="1100" b="1" i="0">
                <a:solidFill>
                  <a:srgbClr val="8A145E"/>
                </a:solidFill>
                <a:latin typeface="Calibri"/>
                <a:hlinkClick r:id="rId4"/>
              </a:rPr>
              <a:t>https://youtu.be/BV2KYV-yhL0</a:t>
            </a:r>
          </a:p>
        </p:txBody>
      </p:sp>
      <p:sp>
        <p:nvSpPr>
          <p:cNvPr id="2097196" name="TextBox 2097195"/>
          <p:cNvSpPr txBox="1"/>
          <p:nvPr/>
        </p:nvSpPr>
        <p:spPr>
          <a:xfrm>
            <a:off x="8686800" y="4754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150">
                <a:solidFill>
                  <a:srgbClr val="F9A8D8"/>
                </a:solidFill>
                <a:latin typeface="Consolas"/>
              </a:rPr>
              <a:t>THANK YOU ·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Infinix X6870</dc:creator>
  <cp:lastModifiedBy>Steve Canny</cp:lastModifiedBy>
  <dcterms:created xsi:type="dcterms:W3CDTF">2013-01-26T22:14:16Z</dcterms:created>
  <dcterms:modified xsi:type="dcterms:W3CDTF">2026-09-09T17:38:24Z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839d763ef0574229a45df99455bcb0af_23</vt:lpwstr>
  </property>
</Properties>
</file>