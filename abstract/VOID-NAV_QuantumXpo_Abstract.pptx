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7"/>
  </p:notesMasterIdLst>
  <p:sldIdLst>
    <p:sldId id="256" r:id="rId6"/>
  </p:sldIdLst>
  <p:sldSz cx="21945600" cy="32918400"/>
  <p:notesSz cx="6858000" cy="9144000"/>
  <p:embeddedFontLst>
    <p:embeddedFont>
      <p:font typeface="Arial Bold" charset="1" panose="020B0704020202020204"/>
      <p:regular r:id="rId10"/>
    </p:embeddedFont>
    <p:embeddedFont>
      <p:font typeface="Canva Sans Bold" charset="1" panose="020B0803030501040103"/>
      <p:regular r:id="rId11"/>
    </p:embeddedFont>
    <p:embeddedFont>
      <p:font typeface="Calibri (MS)" charset="1" panose="020F0502020204030204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theme" Target="theme/theme2.xml"/><Relationship Id="rId9" Type="http://schemas.openxmlformats.org/officeDocument/2006/relationships/notesSlide" Target="notesSlides/notesSlide1.xml"/><Relationship Id="rId10" Type="http://schemas.openxmlformats.org/officeDocument/2006/relationships/font" Target="fonts/font10.fntdata"/><Relationship Id="rId11" Type="http://schemas.openxmlformats.org/officeDocument/2006/relationships/font" Target="fonts/font11.fntdata"/><Relationship Id="rId12" Type="http://schemas.openxmlformats.org/officeDocument/2006/relationships/font" Target="fonts/font12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e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hyperlink" Target="https://youtu.be/BV2KYV-yhL0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74300" y="472381"/>
            <a:ext cx="21111891" cy="31973639"/>
            <a:chOff x="0" y="0"/>
            <a:chExt cx="28436989" cy="4306738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8436950" cy="43067350"/>
            </a:xfrm>
            <a:custGeom>
              <a:avLst/>
              <a:gdLst/>
              <a:ahLst/>
              <a:cxnLst/>
              <a:rect r="r" b="b" t="t" l="l"/>
              <a:pathLst>
                <a:path h="43067350" w="28436950">
                  <a:moveTo>
                    <a:pt x="0" y="0"/>
                  </a:moveTo>
                  <a:lnTo>
                    <a:pt x="28436950" y="0"/>
                  </a:lnTo>
                  <a:lnTo>
                    <a:pt x="28436950" y="43067350"/>
                  </a:lnTo>
                  <a:lnTo>
                    <a:pt x="0" y="4306735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0658" t="0" r="-160658" b="0"/>
              </a:stretch>
            </a:blipFill>
            <a:ln w="22225" cap="sq">
              <a:solidFill>
                <a:srgbClr val="1A1A1A"/>
              </a:solidFill>
              <a:prstDash val="solid"/>
              <a:miter/>
            </a:ln>
          </p:spPr>
        </p:sp>
      </p:grpSp>
      <p:sp>
        <p:nvSpPr>
          <p:cNvPr name="AutoShape 4" id="4"/>
          <p:cNvSpPr/>
          <p:nvPr/>
        </p:nvSpPr>
        <p:spPr>
          <a:xfrm>
            <a:off x="908049" y="6000485"/>
            <a:ext cx="20129502" cy="12648"/>
          </a:xfrm>
          <a:prstGeom prst="line">
            <a:avLst/>
          </a:prstGeom>
          <a:ln cap="rnd" w="9525">
            <a:solidFill>
              <a:srgbClr val="C7CED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011528" y="7094205"/>
            <a:ext cx="17190720" cy="700981"/>
            <a:chOff x="0" y="0"/>
            <a:chExt cx="12557760" cy="51206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557760" cy="512064"/>
            </a:xfrm>
            <a:custGeom>
              <a:avLst/>
              <a:gdLst/>
              <a:ahLst/>
              <a:cxnLst/>
              <a:rect r="r" b="b" t="t" l="l"/>
              <a:pathLst>
                <a:path h="512064" w="12557760">
                  <a:moveTo>
                    <a:pt x="0" y="0"/>
                  </a:moveTo>
                  <a:lnTo>
                    <a:pt x="12557760" y="0"/>
                  </a:lnTo>
                  <a:lnTo>
                    <a:pt x="125577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7847" r="0" b="-427847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125577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1B3C7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PROBLEM STATEMENT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710008" y="6978763"/>
            <a:ext cx="9973311" cy="406679"/>
            <a:chOff x="0" y="0"/>
            <a:chExt cx="12557760" cy="51206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557760" cy="512064"/>
            </a:xfrm>
            <a:custGeom>
              <a:avLst/>
              <a:gdLst/>
              <a:ahLst/>
              <a:cxnLst/>
              <a:rect r="r" b="b" t="t" l="l"/>
              <a:pathLst>
                <a:path h="512064" w="12557760">
                  <a:moveTo>
                    <a:pt x="0" y="0"/>
                  </a:moveTo>
                  <a:lnTo>
                    <a:pt x="12557760" y="0"/>
                  </a:lnTo>
                  <a:lnTo>
                    <a:pt x="125577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7847" r="0" b="-42784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125577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1B3C7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PROPOSED SOLUTION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1005177" y="13303837"/>
            <a:ext cx="20129502" cy="12648"/>
          </a:xfrm>
          <a:prstGeom prst="line">
            <a:avLst/>
          </a:prstGeom>
          <a:ln cap="rnd" w="9525">
            <a:solidFill>
              <a:srgbClr val="C7CED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1011528" y="13877851"/>
            <a:ext cx="9418320" cy="384048"/>
            <a:chOff x="0" y="0"/>
            <a:chExt cx="12557760" cy="512064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557760" cy="512064"/>
            </a:xfrm>
            <a:custGeom>
              <a:avLst/>
              <a:gdLst/>
              <a:ahLst/>
              <a:cxnLst/>
              <a:rect r="r" b="b" t="t" l="l"/>
              <a:pathLst>
                <a:path h="512064" w="12557760">
                  <a:moveTo>
                    <a:pt x="0" y="0"/>
                  </a:moveTo>
                  <a:lnTo>
                    <a:pt x="12557760" y="0"/>
                  </a:lnTo>
                  <a:lnTo>
                    <a:pt x="125577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7847" r="0" b="-427847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125577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1B3C7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KEY FEATURES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995758" y="13877851"/>
            <a:ext cx="10332720" cy="384048"/>
            <a:chOff x="0" y="0"/>
            <a:chExt cx="13776960" cy="5120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776961" cy="512064"/>
            </a:xfrm>
            <a:custGeom>
              <a:avLst/>
              <a:gdLst/>
              <a:ahLst/>
              <a:cxnLst/>
              <a:rect r="r" b="b" t="t" l="l"/>
              <a:pathLst>
                <a:path h="512064" w="13776961">
                  <a:moveTo>
                    <a:pt x="0" y="0"/>
                  </a:moveTo>
                  <a:lnTo>
                    <a:pt x="13776961" y="0"/>
                  </a:lnTo>
                  <a:lnTo>
                    <a:pt x="137769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40" r="0" b="-47424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137769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1B3C7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HOW IT WORKS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938608" y="18406798"/>
            <a:ext cx="10332720" cy="384048"/>
            <a:chOff x="0" y="0"/>
            <a:chExt cx="13776960" cy="512064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776961" cy="512064"/>
            </a:xfrm>
            <a:custGeom>
              <a:avLst/>
              <a:gdLst/>
              <a:ahLst/>
              <a:cxnLst/>
              <a:rect r="r" b="b" t="t" l="l"/>
              <a:pathLst>
                <a:path h="512064" w="13776961">
                  <a:moveTo>
                    <a:pt x="0" y="0"/>
                  </a:moveTo>
                  <a:lnTo>
                    <a:pt x="13776961" y="0"/>
                  </a:lnTo>
                  <a:lnTo>
                    <a:pt x="13776961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74240" r="0" b="-474240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137769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b="true" sz="1599">
                  <a:solidFill>
                    <a:srgbClr val="1B3C7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QUANTUM CIRCUIT / ALGORITHM</a:t>
              </a:r>
            </a:p>
          </p:txBody>
        </p:sp>
      </p:grpSp>
      <p:sp>
        <p:nvSpPr>
          <p:cNvPr name="AutoShape 24" id="24"/>
          <p:cNvSpPr/>
          <p:nvPr/>
        </p:nvSpPr>
        <p:spPr>
          <a:xfrm>
            <a:off x="1005177" y="26307367"/>
            <a:ext cx="20129502" cy="12648"/>
          </a:xfrm>
          <a:prstGeom prst="line">
            <a:avLst/>
          </a:prstGeom>
          <a:ln cap="rnd" w="9525">
            <a:solidFill>
              <a:srgbClr val="C7CEDA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1011528" y="26679451"/>
            <a:ext cx="6461760" cy="384048"/>
            <a:chOff x="0" y="0"/>
            <a:chExt cx="8615680" cy="512064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615680" cy="512064"/>
            </a:xfrm>
            <a:custGeom>
              <a:avLst/>
              <a:gdLst/>
              <a:ahLst/>
              <a:cxnLst/>
              <a:rect r="r" b="b" t="t" l="l"/>
              <a:pathLst>
                <a:path h="512064" w="8615680">
                  <a:moveTo>
                    <a:pt x="0" y="0"/>
                  </a:moveTo>
                  <a:lnTo>
                    <a:pt x="8615680" y="0"/>
                  </a:lnTo>
                  <a:lnTo>
                    <a:pt x="8615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7843" r="0" b="-277843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861568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60"/>
                </a:lnSpc>
              </a:pPr>
              <a:r>
                <a:rPr lang="en-US" b="true" sz="1550">
                  <a:solidFill>
                    <a:srgbClr val="1B3C7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IBM QUANTUM PLATFORM / TOOL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839048" y="26679451"/>
            <a:ext cx="6461760" cy="384048"/>
            <a:chOff x="0" y="0"/>
            <a:chExt cx="8615680" cy="512064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615680" cy="512064"/>
            </a:xfrm>
            <a:custGeom>
              <a:avLst/>
              <a:gdLst/>
              <a:ahLst/>
              <a:cxnLst/>
              <a:rect r="r" b="b" t="t" l="l"/>
              <a:pathLst>
                <a:path h="512064" w="8615680">
                  <a:moveTo>
                    <a:pt x="0" y="0"/>
                  </a:moveTo>
                  <a:lnTo>
                    <a:pt x="8615680" y="0"/>
                  </a:lnTo>
                  <a:lnTo>
                    <a:pt x="8615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7843" r="0" b="-277843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861568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60"/>
                </a:lnSpc>
              </a:pPr>
              <a:r>
                <a:rPr lang="en-US" sz="1550" b="true">
                  <a:solidFill>
                    <a:srgbClr val="1B3C7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EXPECTED IMPACT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666568" y="26679451"/>
            <a:ext cx="6461760" cy="384048"/>
            <a:chOff x="0" y="0"/>
            <a:chExt cx="8615680" cy="512064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8615680" cy="512064"/>
            </a:xfrm>
            <a:custGeom>
              <a:avLst/>
              <a:gdLst/>
              <a:ahLst/>
              <a:cxnLst/>
              <a:rect r="r" b="b" t="t" l="l"/>
              <a:pathLst>
                <a:path h="512064" w="8615680">
                  <a:moveTo>
                    <a:pt x="0" y="0"/>
                  </a:moveTo>
                  <a:lnTo>
                    <a:pt x="8615680" y="0"/>
                  </a:lnTo>
                  <a:lnTo>
                    <a:pt x="861568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77843" r="0" b="-277843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8615680" cy="521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860"/>
                </a:lnSpc>
              </a:pPr>
              <a:r>
                <a:rPr lang="en-US" sz="1550" b="true">
                  <a:solidFill>
                    <a:srgbClr val="1B3C7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FUTURE SCOPE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6002000" y="31866840"/>
            <a:ext cx="5029200" cy="365760"/>
            <a:chOff x="0" y="0"/>
            <a:chExt cx="6705600" cy="48768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705600" cy="487680"/>
            </a:xfrm>
            <a:custGeom>
              <a:avLst/>
              <a:gdLst/>
              <a:ahLst/>
              <a:cxnLst/>
              <a:rect r="r" b="b" t="t" l="l"/>
              <a:pathLst>
                <a:path h="487680" w="6705600">
                  <a:moveTo>
                    <a:pt x="0" y="0"/>
                  </a:moveTo>
                  <a:lnTo>
                    <a:pt x="6705600" y="0"/>
                  </a:lnTo>
                  <a:lnTo>
                    <a:pt x="6705600" y="487680"/>
                  </a:lnTo>
                  <a:lnTo>
                    <a:pt x="0" y="48768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7919" r="0" b="-217919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9050"/>
              <a:ext cx="6705600" cy="506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1439"/>
                </a:lnSpc>
              </a:pPr>
              <a:r>
                <a:rPr lang="en-US" sz="1400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TEAM VOID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457380" y="667060"/>
            <a:ext cx="1167089" cy="1441875"/>
            <a:chOff x="0" y="0"/>
            <a:chExt cx="1556118" cy="1922501"/>
          </a:xfrm>
        </p:grpSpPr>
        <p:sp>
          <p:nvSpPr>
            <p:cNvPr name="Freeform 38" id="38" descr="Departments"/>
            <p:cNvSpPr/>
            <p:nvPr/>
          </p:nvSpPr>
          <p:spPr>
            <a:xfrm flipH="false" flipV="false" rot="0">
              <a:off x="0" y="0"/>
              <a:ext cx="1556131" cy="1922526"/>
            </a:xfrm>
            <a:custGeom>
              <a:avLst/>
              <a:gdLst/>
              <a:ahLst/>
              <a:cxnLst/>
              <a:rect r="r" b="b" t="t" l="l"/>
              <a:pathLst>
                <a:path h="1922526" w="1556131">
                  <a:moveTo>
                    <a:pt x="0" y="0"/>
                  </a:moveTo>
                  <a:lnTo>
                    <a:pt x="1556131" y="0"/>
                  </a:lnTo>
                  <a:lnTo>
                    <a:pt x="1556131" y="1922526"/>
                  </a:lnTo>
                  <a:lnTo>
                    <a:pt x="0" y="19225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908049" y="18214774"/>
            <a:ext cx="9418320" cy="384048"/>
            <a:chOff x="0" y="0"/>
            <a:chExt cx="12557760" cy="512064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557760" cy="512064"/>
            </a:xfrm>
            <a:custGeom>
              <a:avLst/>
              <a:gdLst/>
              <a:ahLst/>
              <a:cxnLst/>
              <a:rect r="r" b="b" t="t" l="l"/>
              <a:pathLst>
                <a:path h="512064" w="12557760">
                  <a:moveTo>
                    <a:pt x="0" y="0"/>
                  </a:moveTo>
                  <a:lnTo>
                    <a:pt x="12557760" y="0"/>
                  </a:lnTo>
                  <a:lnTo>
                    <a:pt x="12557760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27847" r="0" b="-427847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12557760" cy="53111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919"/>
                </a:lnSpc>
              </a:pPr>
              <a:r>
                <a:rPr lang="en-US" sz="1599" b="true">
                  <a:solidFill>
                    <a:srgbClr val="1B3C74"/>
                  </a:solidFill>
                  <a:latin typeface="Arial Bold"/>
                  <a:ea typeface="Arial Bold"/>
                  <a:cs typeface="Arial Bold"/>
                  <a:sym typeface="Arial Bold"/>
                </a:rPr>
                <a:t>QUANTUM SIMULATION 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7433420" y="472381"/>
            <a:ext cx="4152771" cy="2102861"/>
            <a:chOff x="0" y="0"/>
            <a:chExt cx="5537028" cy="2803815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2595589" y="1675038"/>
              <a:ext cx="2941440" cy="1128777"/>
            </a:xfrm>
            <a:custGeom>
              <a:avLst/>
              <a:gdLst/>
              <a:ahLst/>
              <a:cxnLst/>
              <a:rect r="r" b="b" t="t" l="l"/>
              <a:pathLst>
                <a:path h="1128777" w="2941440">
                  <a:moveTo>
                    <a:pt x="0" y="0"/>
                  </a:moveTo>
                  <a:lnTo>
                    <a:pt x="2941439" y="0"/>
                  </a:lnTo>
                  <a:lnTo>
                    <a:pt x="2941439" y="1128777"/>
                  </a:lnTo>
                  <a:lnTo>
                    <a:pt x="0" y="1128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3298611" y="342040"/>
              <a:ext cx="1516129" cy="1509360"/>
            </a:xfrm>
            <a:custGeom>
              <a:avLst/>
              <a:gdLst/>
              <a:ahLst/>
              <a:cxnLst/>
              <a:rect r="r" b="b" t="t" l="l"/>
              <a:pathLst>
                <a:path h="1509360" w="1516129">
                  <a:moveTo>
                    <a:pt x="0" y="0"/>
                  </a:moveTo>
                  <a:lnTo>
                    <a:pt x="1516128" y="0"/>
                  </a:lnTo>
                  <a:lnTo>
                    <a:pt x="1516128" y="1509360"/>
                  </a:lnTo>
                  <a:lnTo>
                    <a:pt x="0" y="1509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313018" cy="2313018"/>
            </a:xfrm>
            <a:custGeom>
              <a:avLst/>
              <a:gdLst/>
              <a:ahLst/>
              <a:cxnLst/>
              <a:rect r="r" b="b" t="t" l="l"/>
              <a:pathLst>
                <a:path h="2313018" w="2313018">
                  <a:moveTo>
                    <a:pt x="0" y="0"/>
                  </a:moveTo>
                  <a:lnTo>
                    <a:pt x="2313018" y="0"/>
                  </a:lnTo>
                  <a:lnTo>
                    <a:pt x="2313018" y="2313018"/>
                  </a:lnTo>
                  <a:lnTo>
                    <a:pt x="0" y="23130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sp>
        <p:nvSpPr>
          <p:cNvPr name="TextBox 46" id="46"/>
          <p:cNvSpPr txBox="true"/>
          <p:nvPr/>
        </p:nvSpPr>
        <p:spPr>
          <a:xfrm rot="0">
            <a:off x="-203590" y="675046"/>
            <a:ext cx="22195478" cy="13497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6"/>
              </a:lnSpc>
            </a:pPr>
            <a:r>
              <a:rPr lang="en-US" sz="386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Rajiv Gandhi University of Knowledge Technologies</a:t>
            </a:r>
          </a:p>
          <a:p>
            <a:pPr algn="ctr">
              <a:lnSpc>
                <a:spcPts val="5406"/>
              </a:lnSpc>
            </a:pPr>
            <a:r>
              <a:rPr lang="en-US" sz="3862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Nuzvid, Andhra Pradesh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1973010" y="4183046"/>
            <a:ext cx="17842279" cy="1865329"/>
            <a:chOff x="0" y="0"/>
            <a:chExt cx="26822400" cy="280416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6822400" cy="2804160"/>
            </a:xfrm>
            <a:custGeom>
              <a:avLst/>
              <a:gdLst/>
              <a:ahLst/>
              <a:cxnLst/>
              <a:rect r="r" b="b" t="t" l="l"/>
              <a:pathLst>
                <a:path h="2804160" w="26822400">
                  <a:moveTo>
                    <a:pt x="0" y="0"/>
                  </a:moveTo>
                  <a:lnTo>
                    <a:pt x="26822400" y="0"/>
                  </a:lnTo>
                  <a:lnTo>
                    <a:pt x="26822400" y="2804160"/>
                  </a:lnTo>
                  <a:lnTo>
                    <a:pt x="0" y="280416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6378" r="0" b="-136378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28575"/>
              <a:ext cx="26822400" cy="28327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3300" b="true">
                  <a:solidFill>
                    <a:srgbClr val="1A1A1A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VOID-NAV: Quantum-Assisted Navigation for GPS-Denied Drones</a:t>
              </a:r>
            </a:p>
          </p:txBody>
        </p:sp>
      </p:grpSp>
      <p:sp>
        <p:nvSpPr>
          <p:cNvPr name="Freeform 50" id="50"/>
          <p:cNvSpPr/>
          <p:nvPr/>
        </p:nvSpPr>
        <p:spPr>
          <a:xfrm flipH="false" flipV="false" rot="0">
            <a:off x="5984569" y="2112139"/>
            <a:ext cx="9976462" cy="3585291"/>
          </a:xfrm>
          <a:custGeom>
            <a:avLst/>
            <a:gdLst/>
            <a:ahLst/>
            <a:cxnLst/>
            <a:rect r="r" b="b" t="t" l="l"/>
            <a:pathLst>
              <a:path h="3585291" w="9976462">
                <a:moveTo>
                  <a:pt x="0" y="0"/>
                </a:moveTo>
                <a:lnTo>
                  <a:pt x="9976462" y="0"/>
                </a:lnTo>
                <a:lnTo>
                  <a:pt x="9976462" y="3585291"/>
                </a:lnTo>
                <a:lnTo>
                  <a:pt x="0" y="3585291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id="51" name="TextBox 50"/>
          <p:cNvSpPr txBox="1"/>
          <p:nvPr/>
        </p:nvSpPr>
        <p:spPr>
          <a:xfrm>
            <a:off x="1014984" y="8183879"/>
            <a:ext cx="941832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When GPS is jammed, blocked by terrain or simply unavailable, a drone falls back on its inertial sensors (IMU). Their small errors add up, and the position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drifts without bound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. Nothing on board can tell by how much.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Who is affected: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defence UAVs, loitering systems, border and coastal patrol, and any drone flying in tunnels, forests or contested airspace.</a:t>
            </a:r>
          </a:p>
          <a:p>
            <a:pPr algn="l">
              <a:spcAft>
                <a:spcPts val="8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Why current approaches fall short: 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low-cost MEMS IMUs drift hundreds of metres within minutes; navigation-grade INS and cold-atom sensors cost lakhs to crores; radar or camera fixes emit signals or fail in darkness and smoke.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14984" y="10835640"/>
            <a:ext cx="3017520" cy="2103120"/>
          </a:xfrm>
          <a:prstGeom prst="roundRect">
            <a:avLst>
              <a:gd name="adj" fmla="val 8000"/>
            </a:avLst>
          </a:prstGeom>
          <a:solidFill>
            <a:srgbClr val="F1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97864" y="1097280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6C1CF0"/>
                </a:solidFill>
                <a:latin typeface="Arial"/>
              </a:rPr>
              <a:t>10⁻¹⁶ W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97864" y="1184148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55B66"/>
                </a:solidFill>
                <a:latin typeface="Calibri"/>
              </a:rPr>
              <a:t>GPS power at the receiver: easy to lose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15384" y="10835640"/>
            <a:ext cx="3017520" cy="2103120"/>
          </a:xfrm>
          <a:prstGeom prst="roundRect">
            <a:avLst>
              <a:gd name="adj" fmla="val 8000"/>
            </a:avLst>
          </a:prstGeom>
          <a:solidFill>
            <a:srgbClr val="F1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98264" y="1097280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6C1CF0"/>
                </a:solidFill>
                <a:latin typeface="Arial"/>
              </a:rPr>
              <a:t>t²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98264" y="1184148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55B66"/>
                </a:solidFill>
                <a:latin typeface="Calibri"/>
              </a:rPr>
              <a:t>inertial error grows with time squared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415783" y="10835640"/>
            <a:ext cx="3017520" cy="2103120"/>
          </a:xfrm>
          <a:prstGeom prst="roundRect">
            <a:avLst>
              <a:gd name="adj" fmla="val 8000"/>
            </a:avLst>
          </a:prstGeom>
          <a:solidFill>
            <a:srgbClr val="F1EC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98663" y="10972800"/>
            <a:ext cx="26517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6C1CF0"/>
                </a:solidFill>
                <a:latin typeface="Arial"/>
              </a:rPr>
              <a:t>UC-085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598663" y="11841480"/>
            <a:ext cx="26517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55B66"/>
                </a:solidFill>
                <a:latin typeface="Calibri"/>
              </a:rPr>
              <a:t>quantum sensing for GPS-denied navigation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713464" y="8183879"/>
            <a:ext cx="94183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VOID-NAV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 is a small, passive navigation payload that mounts on a drone. It reads the Earth's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magnetic fingerprint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, matches it to a pre-built magnetic map with 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quantum algorithms</a:t>
            </a:r>
            <a:r>
              <a:rPr sz="1500" b="0" i="0">
                <a:solidFill>
                  <a:srgbClr val="1A1A1A"/>
                </a:solidFill>
                <a:latin typeface="Calibri"/>
              </a:rPr>
              <a:t>, and corrects inertial drift. No satellites, no emissions.</a:t>
            </a:r>
          </a:p>
        </p:txBody>
      </p:sp>
      <p:pic>
        <p:nvPicPr>
          <p:cNvPr id="62" name="Picture 61" descr="dron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12880" y="9665208"/>
            <a:ext cx="5120640" cy="3072384"/>
          </a:xfrm>
          <a:prstGeom prst="rect">
            <a:avLst/>
          </a:prstGeom>
        </p:spPr>
      </p:pic>
      <p:sp>
        <p:nvSpPr>
          <p:cNvPr id="63" name="TextBox 62"/>
          <p:cNvSpPr txBox="1"/>
          <p:nvPr/>
        </p:nvSpPr>
        <p:spPr>
          <a:xfrm>
            <a:off x="16870680" y="95554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3C74"/>
                </a:solidFill>
                <a:latin typeface="Arial"/>
              </a:rPr>
              <a:t>1 · Map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870680" y="9857232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5B66"/>
                </a:solidFill>
                <a:latin typeface="Calibri"/>
              </a:rPr>
              <a:t>Survey once with GPS on: fingerprint [Bx, By, Bz, |B|, ∇B] per 2 m cell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6870680" y="10405872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3C74"/>
                </a:solidFill>
                <a:latin typeface="Arial"/>
              </a:rPr>
              <a:t>2 · Sense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870680" y="10707624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5B66"/>
                </a:solidFill>
                <a:latin typeface="Calibri"/>
              </a:rPr>
              <a:t>GPS off: magnetometer, IMU, optical flow, barometer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6870680" y="11256263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3C74"/>
                </a:solidFill>
                <a:latin typeface="Arial"/>
              </a:rPr>
              <a:t>3 · Match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6870680" y="11558015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5B66"/>
                </a:solidFill>
                <a:latin typeface="Calibri"/>
              </a:rPr>
              <a:t>Quantum engine finds the matching map cell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870680" y="12106655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3C74"/>
                </a:solidFill>
                <a:latin typeface="Arial"/>
              </a:rPr>
              <a:t>4 · Correct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870680" y="12408407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5B66"/>
                </a:solidFill>
                <a:latin typeface="Calibri"/>
              </a:rPr>
              <a:t>Particle filter resets drift, sends position to autopilot</a:t>
            </a:r>
          </a:p>
        </p:txBody>
      </p:sp>
      <p:sp>
        <p:nvSpPr>
          <p:cNvPr id="71" name="Oval 70"/>
          <p:cNvSpPr/>
          <p:nvPr/>
        </p:nvSpPr>
        <p:spPr>
          <a:xfrm>
            <a:off x="905256" y="14657831"/>
            <a:ext cx="256032" cy="256032"/>
          </a:xfrm>
          <a:prstGeom prst="ellipse">
            <a:avLst/>
          </a:prstGeom>
          <a:solidFill>
            <a:srgbClr val="6C1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316736" y="14584680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Full quantum pipeline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316736" y="14913863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5B66"/>
                </a:solidFill>
                <a:latin typeface="Calibri"/>
              </a:rPr>
              <a:t>sensing, search, learning and planning, each with a distinct job</a:t>
            </a:r>
          </a:p>
        </p:txBody>
      </p:sp>
      <p:sp>
        <p:nvSpPr>
          <p:cNvPr id="74" name="Oval 73"/>
          <p:cNvSpPr/>
          <p:nvPr/>
        </p:nvSpPr>
        <p:spPr>
          <a:xfrm>
            <a:off x="5660136" y="14657831"/>
            <a:ext cx="256032" cy="256032"/>
          </a:xfrm>
          <a:prstGeom prst="ellipse">
            <a:avLst/>
          </a:prstGeom>
          <a:solidFill>
            <a:srgbClr val="6C1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071616" y="14584680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5-D magnetic fingerprint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071616" y="14913863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5B66"/>
                </a:solidFill>
                <a:latin typeface="Calibri"/>
              </a:rPr>
              <a:t>matches field pattern and gradient, not a single value</a:t>
            </a:r>
          </a:p>
        </p:txBody>
      </p:sp>
      <p:sp>
        <p:nvSpPr>
          <p:cNvPr id="77" name="Oval 76"/>
          <p:cNvSpPr/>
          <p:nvPr/>
        </p:nvSpPr>
        <p:spPr>
          <a:xfrm>
            <a:off x="905256" y="15800831"/>
            <a:ext cx="256032" cy="256032"/>
          </a:xfrm>
          <a:prstGeom prst="ellipse">
            <a:avLst/>
          </a:prstGeom>
          <a:solidFill>
            <a:srgbClr val="6C1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316736" y="15727680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Grover + QSVM cross-check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316736" y="16056863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5B66"/>
                </a:solidFill>
                <a:latin typeface="Calibri"/>
              </a:rPr>
              <a:t>a correction is accepted only when both agree</a:t>
            </a:r>
          </a:p>
        </p:txBody>
      </p:sp>
      <p:sp>
        <p:nvSpPr>
          <p:cNvPr id="80" name="Oval 79"/>
          <p:cNvSpPr/>
          <p:nvPr/>
        </p:nvSpPr>
        <p:spPr>
          <a:xfrm>
            <a:off x="5660136" y="15800831"/>
            <a:ext cx="256032" cy="256032"/>
          </a:xfrm>
          <a:prstGeom prst="ellipse">
            <a:avLst/>
          </a:prstGeom>
          <a:solidFill>
            <a:srgbClr val="6C1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071616" y="15727680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Quantum-sensor ready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071616" y="16056863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5B66"/>
                </a:solidFill>
                <a:latin typeface="Calibri"/>
              </a:rPr>
              <a:t>drop-in slot for an NV-diamond magnetometer</a:t>
            </a:r>
          </a:p>
        </p:txBody>
      </p:sp>
      <p:sp>
        <p:nvSpPr>
          <p:cNvPr id="83" name="Oval 82"/>
          <p:cNvSpPr/>
          <p:nvPr/>
        </p:nvSpPr>
        <p:spPr>
          <a:xfrm>
            <a:off x="905256" y="16943831"/>
            <a:ext cx="256032" cy="256032"/>
          </a:xfrm>
          <a:prstGeom prst="ellipse">
            <a:avLst/>
          </a:prstGeom>
          <a:solidFill>
            <a:srgbClr val="6C1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316736" y="16870680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Passive and retrofittable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316736" y="17199864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5B66"/>
                </a:solidFill>
                <a:latin typeface="Calibri"/>
              </a:rPr>
              <a:t>emits nothing; talks MAVLink to ArduPilot/PX4</a:t>
            </a:r>
          </a:p>
        </p:txBody>
      </p:sp>
      <p:sp>
        <p:nvSpPr>
          <p:cNvPr id="86" name="Oval 85"/>
          <p:cNvSpPr/>
          <p:nvPr/>
        </p:nvSpPr>
        <p:spPr>
          <a:xfrm>
            <a:off x="5660136" y="16943831"/>
            <a:ext cx="256032" cy="256032"/>
          </a:xfrm>
          <a:prstGeom prst="ellipse">
            <a:avLst/>
          </a:prstGeom>
          <a:solidFill>
            <a:srgbClr val="6C1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071616" y="16870680"/>
            <a:ext cx="42062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Arial"/>
              </a:rPr>
              <a:t>Low cost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071616" y="17199864"/>
            <a:ext cx="42062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555B66"/>
                </a:solidFill>
                <a:latin typeface="Calibri"/>
              </a:rPr>
              <a:t>prototype under ₹4,000 in parts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11996928" y="14904720"/>
            <a:ext cx="1645920" cy="132588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2070080" y="15014448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1B3C74"/>
                </a:solidFill>
                <a:latin typeface="Arial"/>
              </a:rPr>
              <a:t>SENSE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2070080" y="15343632"/>
            <a:ext cx="149961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50 Hz sensors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13661136" y="15563088"/>
            <a:ext cx="219456" cy="0"/>
          </a:xfrm>
          <a:prstGeom prst="line">
            <a:avLst/>
          </a:prstGeom>
          <a:ln w="25400">
            <a:solidFill>
              <a:srgbClr val="6C1C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Rounded Rectangle 92"/>
          <p:cNvSpPr/>
          <p:nvPr/>
        </p:nvSpPr>
        <p:spPr>
          <a:xfrm>
            <a:off x="13898880" y="14904720"/>
            <a:ext cx="1645920" cy="132588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3972032" y="15014448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1B3C74"/>
                </a:solidFill>
                <a:latin typeface="Arial"/>
              </a:rPr>
              <a:t>PRE-PROCESS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972032" y="15343632"/>
            <a:ext cx="149961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calibrate + fingerprint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15563088" y="15563088"/>
            <a:ext cx="219455" cy="0"/>
          </a:xfrm>
          <a:prstGeom prst="line">
            <a:avLst/>
          </a:prstGeom>
          <a:ln w="25400">
            <a:solidFill>
              <a:srgbClr val="6C1C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Rounded Rectangle 96"/>
          <p:cNvSpPr/>
          <p:nvPr/>
        </p:nvSpPr>
        <p:spPr>
          <a:xfrm>
            <a:off x="15800832" y="14904720"/>
            <a:ext cx="1645920" cy="1325880"/>
          </a:xfrm>
          <a:prstGeom prst="roundRect">
            <a:avLst>
              <a:gd name="adj" fmla="val 8000"/>
            </a:avLst>
          </a:prstGeom>
          <a:solidFill>
            <a:srgbClr val="6C1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5873984" y="15014448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FFFFFF"/>
                </a:solidFill>
                <a:latin typeface="Arial"/>
              </a:rPr>
              <a:t>QUANTUM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5873984" y="15343632"/>
            <a:ext cx="149961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IPE · Grover · QSVM · QAOA</a:t>
            </a:r>
          </a:p>
        </p:txBody>
      </p:sp>
      <p:cxnSp>
        <p:nvCxnSpPr>
          <p:cNvPr id="100" name="Connector 99"/>
          <p:cNvCxnSpPr/>
          <p:nvPr/>
        </p:nvCxnSpPr>
        <p:spPr>
          <a:xfrm>
            <a:off x="17465040" y="15563088"/>
            <a:ext cx="219456" cy="0"/>
          </a:xfrm>
          <a:prstGeom prst="line">
            <a:avLst/>
          </a:prstGeom>
          <a:ln w="25400">
            <a:solidFill>
              <a:srgbClr val="6C1C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1" name="Rounded Rectangle 100"/>
          <p:cNvSpPr/>
          <p:nvPr/>
        </p:nvSpPr>
        <p:spPr>
          <a:xfrm>
            <a:off x="17702784" y="14904720"/>
            <a:ext cx="1645920" cy="132588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7775935" y="15014448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1B3C74"/>
                </a:solidFill>
                <a:latin typeface="Arial"/>
              </a:rPr>
              <a:t>FUSE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7775935" y="15343632"/>
            <a:ext cx="149961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particle filter</a:t>
            </a:r>
          </a:p>
        </p:txBody>
      </p:sp>
      <p:cxnSp>
        <p:nvCxnSpPr>
          <p:cNvPr id="104" name="Connector 103"/>
          <p:cNvCxnSpPr/>
          <p:nvPr/>
        </p:nvCxnSpPr>
        <p:spPr>
          <a:xfrm>
            <a:off x="19366992" y="15563088"/>
            <a:ext cx="219456" cy="0"/>
          </a:xfrm>
          <a:prstGeom prst="line">
            <a:avLst/>
          </a:prstGeom>
          <a:ln w="25400">
            <a:solidFill>
              <a:srgbClr val="6C1CF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Rounded Rectangle 104"/>
          <p:cNvSpPr/>
          <p:nvPr/>
        </p:nvSpPr>
        <p:spPr>
          <a:xfrm>
            <a:off x="19604735" y="14904720"/>
            <a:ext cx="1645920" cy="1325880"/>
          </a:xfrm>
          <a:prstGeom prst="roundRect">
            <a:avLst>
              <a:gd name="adj" fmla="val 8000"/>
            </a:avLst>
          </a:prstGeom>
          <a:solidFill>
            <a:srgbClr val="F4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9677887" y="15014448"/>
            <a:ext cx="1499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1B3C74"/>
                </a:solidFill>
                <a:latin typeface="Arial"/>
              </a:rPr>
              <a:t>ACT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9677887" y="15343632"/>
            <a:ext cx="1499616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autopilot + dashboard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1996928" y="16459200"/>
            <a:ext cx="941832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A1A1A"/>
                </a:solidFill>
                <a:latin typeface="Calibri"/>
              </a:rPr>
              <a:t>Sensor data streams in at 50 Hz. Every second the quantum engine takes a window of readings and returns candidate map cells; the particle filter accepts a correction only when </a:t>
            </a:r>
            <a:r>
              <a:rPr sz="1350" b="1" i="0">
                <a:solidFill>
                  <a:srgbClr val="1A1A1A"/>
                </a:solidFill>
                <a:latin typeface="Calibri"/>
              </a:rPr>
              <a:t>Grover and the QSVM agree</a:t>
            </a:r>
            <a:r>
              <a:rPr sz="1350" b="0" i="0">
                <a:solidFill>
                  <a:srgbClr val="1A1A1A"/>
                </a:solidFill>
                <a:latin typeface="Calibri"/>
              </a:rPr>
              <a:t>, then sends position + confidence to the autopilot. Quantum runs alongside flight control, never blocking it.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05256" y="18928080"/>
            <a:ext cx="94183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The full quantum pipeline runs in a Qiskit notebook on the </a:t>
            </a:r>
            <a:r>
              <a:rPr sz="1400" b="1" i="0">
                <a:solidFill>
                  <a:srgbClr val="1A1A1A"/>
                </a:solidFill>
                <a:latin typeface="Calibri"/>
              </a:rPr>
              <a:t>Qiskit Aer</a:t>
            </a:r>
            <a:r>
              <a:rPr sz="1400" b="0" i="0">
                <a:solidFill>
                  <a:srgbClr val="1A1A1A"/>
                </a:solidFill>
                <a:latin typeface="Calibri"/>
              </a:rPr>
              <a:t> simulator, on a 4×4 magnetic map. The simulation is part of the navigation loop: its outputs directly correct the drone's position.</a:t>
            </a:r>
          </a:p>
        </p:txBody>
      </p:sp>
      <p:graphicFrame>
        <p:nvGraphicFramePr>
          <p:cNvPr id="110" name="Table 109"/>
          <p:cNvGraphicFramePr>
            <a:graphicFrameLocks noGrp="1"/>
          </p:cNvGraphicFramePr>
          <p:nvPr/>
        </p:nvGraphicFramePr>
        <p:xfrm>
          <a:off x="905256" y="20162520"/>
          <a:ext cx="94183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383280"/>
                <a:gridCol w="3657600"/>
              </a:tblGrid>
              <a:tr h="4876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Simulated block</a:t>
                      </a:r>
                    </a:p>
                  </a:txBody>
                  <a:tcPr marL="73152" marR="73152" marT="45720" marB="45720">
                    <a:solidFill>
                      <a:srgbClr val="1B3C7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What it computes</a:t>
                      </a:r>
                    </a:p>
                  </a:txBody>
                  <a:tcPr marL="73152" marR="73152" marT="45720" marB="45720">
                    <a:solidFill>
                      <a:srgbClr val="1B3C7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Verified result</a:t>
                      </a:r>
                    </a:p>
                  </a:txBody>
                  <a:tcPr marL="73152" marR="73152" marT="45720" marB="45720">
                    <a:solidFill>
                      <a:srgbClr val="1B3C7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Ramsey + IPE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field phase from an NV-diamond qubit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C1CF0"/>
                          </a:solidFill>
                          <a:latin typeface="Calibri"/>
                        </a:rPr>
                        <a:t>16/16 map cells recovered exactly (6-bit)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Grover (4 qubits)</a:t>
                      </a:r>
                    </a:p>
                  </a:txBody>
                  <a:tcPr marL="73152" marR="73152" marT="45720" marB="45720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matching map cell</a:t>
                      </a:r>
                    </a:p>
                  </a:txBody>
                  <a:tcPr marL="73152" marR="73152" marT="45720" marB="45720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C1CF0"/>
                          </a:solidFill>
                          <a:latin typeface="Calibri"/>
                        </a:rPr>
                        <a:t>96.1% of shots on correct cell 1011</a:t>
                      </a:r>
                    </a:p>
                  </a:txBody>
                  <a:tcPr marL="73152" marR="73152" marT="45720" marB="45720">
                    <a:solidFill>
                      <a:srgbClr val="F4F5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QSVM (ZZ kernel)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zone: corridor / stairwell / lab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C1CF0"/>
                          </a:solidFill>
                          <a:latin typeface="Calibri"/>
                        </a:rPr>
                        <a:t>99.0% test accuracy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QAOA (p = 1)</a:t>
                      </a:r>
                    </a:p>
                  </a:txBody>
                  <a:tcPr marL="73152" marR="73152" marT="45720" marB="45720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best waypoint pair</a:t>
                      </a:r>
                    </a:p>
                  </a:txBody>
                  <a:tcPr marL="73152" marR="73152" marT="45720" marB="45720">
                    <a:solidFill>
                      <a:srgbClr val="F4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C1CF0"/>
                          </a:solidFill>
                          <a:latin typeface="Calibri"/>
                        </a:rPr>
                        <a:t>matches brute-force optimum</a:t>
                      </a:r>
                    </a:p>
                  </a:txBody>
                  <a:tcPr marL="73152" marR="73152" marT="45720" marB="45720">
                    <a:solidFill>
                      <a:srgbClr val="F4F5F8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Navigation loop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A1A1A"/>
                          </a:solidFill>
                          <a:latin typeface="Calibri"/>
                        </a:rPr>
                        <a:t>drift with vs without quantum fixes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6C1CF0"/>
                          </a:solidFill>
                          <a:latin typeface="Calibri"/>
                        </a:rPr>
                        <a:t>mean error 2.10 m → 0.40 m (5.3×)</a:t>
                      </a:r>
                    </a:p>
                  </a:txBody>
                  <a:tcPr marL="73152" marR="73152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111" name="Picture 110" descr="nb4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104791" y="23225760"/>
            <a:ext cx="7019249" cy="2697480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905256" y="2596896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55B66"/>
                </a:solidFill>
                <a:latin typeface="Calibri"/>
              </a:rPr>
              <a:t>Navigation loop output from the notebook: inertial-only drift (grey) vs VOID-NAV with Grover + QSVM fixes (pink).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1942064" y="1924812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3C74"/>
                </a:solidFill>
                <a:latin typeface="Arial"/>
              </a:rPr>
              <a:t>Q1 · Quantum sensing: Ramsey + Iterative Phase Estimation</a:t>
            </a:r>
          </a:p>
        </p:txBody>
      </p:sp>
      <p:pic>
        <p:nvPicPr>
          <p:cNvPr id="114" name="Picture 113" descr="ip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121248" y="19568160"/>
            <a:ext cx="2579392" cy="1234440"/>
          </a:xfrm>
          <a:prstGeom prst="rect">
            <a:avLst/>
          </a:prstGeom>
        </p:spPr>
      </p:pic>
      <p:sp>
        <p:nvSpPr>
          <p:cNvPr id="115" name="TextBox 114"/>
          <p:cNvSpPr txBox="1"/>
          <p:nvPr/>
        </p:nvSpPr>
        <p:spPr>
          <a:xfrm>
            <a:off x="17099280" y="19613880"/>
            <a:ext cx="426110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H creates superposition; the field imprints phase φ = 2πγBτ; phase kickback + IPE reads φ bit by bit.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1942064" y="2098548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3C74"/>
                </a:solidFill>
                <a:latin typeface="Arial"/>
              </a:rPr>
              <a:t>Q2 · Grover's search: oracle + diffuser, 4 qubits</a:t>
            </a:r>
          </a:p>
        </p:txBody>
      </p:sp>
      <p:pic>
        <p:nvPicPr>
          <p:cNvPr id="117" name="Picture 116" descr="grover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815186" y="21305520"/>
            <a:ext cx="3191516" cy="1234440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17099280" y="21351239"/>
            <a:ext cx="426110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Oracle U_f flips matching cells; diffuser 2|s⟩⟨s|−I amplifies them; ~√N queries.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1942064" y="2272284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3C74"/>
                </a:solidFill>
                <a:latin typeface="Arial"/>
              </a:rPr>
              <a:t>Q3 · Quantum-kernel SVM: ZZ feature map</a:t>
            </a:r>
          </a:p>
        </p:txBody>
      </p:sp>
      <p:pic>
        <p:nvPicPr>
          <p:cNvPr id="120" name="Picture 119" descr="zz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1942064" y="23281973"/>
            <a:ext cx="4937760" cy="756253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17099280" y="23088600"/>
            <a:ext cx="426110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K(x,x′) = |⟨φ(x)|φ(x′)⟩|² from statevectors, fed to a classical SVM.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1942064" y="24460200"/>
            <a:ext cx="9418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3C74"/>
                </a:solidFill>
                <a:latin typeface="Arial"/>
              </a:rPr>
              <a:t>Q4 · QAOA route planning, p = 1</a:t>
            </a:r>
          </a:p>
        </p:txBody>
      </p:sp>
      <p:pic>
        <p:nvPicPr>
          <p:cNvPr id="123" name="Picture 122" descr="qaoa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653242" y="24780240"/>
            <a:ext cx="3515404" cy="1234440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17099280" y="24825960"/>
            <a:ext cx="4261104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555B66"/>
                </a:solidFill>
                <a:latin typeface="Calibri"/>
              </a:rPr>
              <a:t>Cost Hamiltonian from a QUBO; mixer ΣXᵢ; (γ, β) optimised on Aer.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88136" y="27569160"/>
            <a:ext cx="630936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6C1CF0"/>
                </a:solidFill>
                <a:latin typeface="Calibri"/>
              </a:rPr>
              <a:t>•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Qiskit 2.x SDK (circuits, primitives)</a:t>
            </a:r>
          </a:p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6C1CF0"/>
                </a:solidFill>
                <a:latin typeface="Calibri"/>
              </a:rPr>
              <a:t>•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Qiskit Aer (AerSimulator)</a:t>
            </a:r>
          </a:p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6C1CF0"/>
                </a:solidFill>
                <a:latin typeface="Calibri"/>
              </a:rPr>
              <a:t>•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Qiskit quantum_info (Statevector kernels)</a:t>
            </a:r>
          </a:p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6C1CF0"/>
                </a:solidFill>
                <a:latin typeface="Calibri"/>
              </a:rPr>
              <a:t>•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Qiskit circuit library (zz_feature_map, DiagonalGate)</a:t>
            </a:r>
          </a:p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6C1CF0"/>
                </a:solidFill>
                <a:latin typeface="Calibri"/>
              </a:rPr>
              <a:t>•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IBM Quantum Platform via qiskit-ibm-runtime (hardware run planned)</a:t>
            </a:r>
          </a:p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6C1CF0"/>
                </a:solidFill>
                <a:latin typeface="Calibri"/>
              </a:rPr>
              <a:t>•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Also: scikit-learn, NumPy, Matplotlib, ArduPilot SITL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7470648" y="27569160"/>
            <a:ext cx="6309360" cy="4206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6C1CF0"/>
                </a:solidFill>
                <a:latin typeface="Calibri"/>
              </a:rPr>
              <a:t>•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GPS-independent, jam-proof positioning for defence drones</a:t>
            </a:r>
          </a:p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6C1CF0"/>
                </a:solidFill>
                <a:latin typeface="Calibri"/>
              </a:rPr>
              <a:t>•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Bounded error instead of unbounded drift (5.3× lower in simulation)</a:t>
            </a:r>
          </a:p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6C1CF0"/>
                </a:solidFill>
                <a:latin typeface="Calibri"/>
              </a:rPr>
              <a:t>•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Passive: no emissions to detect</a:t>
            </a:r>
          </a:p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6C1CF0"/>
                </a:solidFill>
                <a:latin typeface="Calibri"/>
              </a:rPr>
              <a:t>•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Low-cost payload that retrofits existing drones</a:t>
            </a:r>
          </a:p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6C1CF0"/>
                </a:solidFill>
                <a:latin typeface="Calibri"/>
              </a:rPr>
              <a:t>•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Dual use: disaster response, mining, tunnels, maritime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3807440" y="27569160"/>
            <a:ext cx="6949440" cy="365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6C1CF0"/>
                </a:solidFill>
                <a:latin typeface="Calibri"/>
              </a:rPr>
              <a:t>•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Run Grover and IPE on IBM Quantum hardware</a:t>
            </a:r>
          </a:p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6C1CF0"/>
                </a:solidFill>
                <a:latin typeface="Calibri"/>
              </a:rPr>
              <a:t>•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Replace the synthetic map with our real magnetometer survey</a:t>
            </a:r>
          </a:p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6C1CF0"/>
                </a:solidFill>
                <a:latin typeface="Calibri"/>
              </a:rPr>
              <a:t>•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Larger maps: more qubits, outdoor anomaly data</a:t>
            </a:r>
          </a:p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6C1CF0"/>
                </a:solidFill>
                <a:latin typeface="Calibri"/>
              </a:rPr>
              <a:t>•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Swap in a real NV-diamond quantum magnetometer</a:t>
            </a:r>
          </a:p>
          <a:p>
            <a:pPr algn="l">
              <a:spcAft>
                <a:spcPts val="1100"/>
              </a:spcAft>
            </a:pPr>
            <a:r>
              <a:rPr sz="1600" b="1" i="0">
                <a:solidFill>
                  <a:srgbClr val="6C1CF0"/>
                </a:solidFill>
                <a:latin typeface="Calibri"/>
              </a:rPr>
              <a:t>• </a:t>
            </a:r>
            <a:r>
              <a:rPr sz="1600" b="0" i="0">
                <a:solidFill>
                  <a:srgbClr val="1A1A1A"/>
                </a:solidFill>
                <a:latin typeface="Calibri"/>
              </a:rPr>
              <a:t>Field trials with defence partners (DRDO / iDEX)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88136" y="31592519"/>
            <a:ext cx="1371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A1A1A"/>
                </a:solidFill>
                <a:latin typeface="Calibri"/>
              </a:rPr>
              <a:t>Video: </a:t>
            </a:r>
            <a:r>
              <a:rPr sz="1500" b="0" i="0">
                <a:solidFill>
                  <a:srgbClr val="6C1CF0"/>
                </a:solidFill>
                <a:latin typeface="Calibri"/>
                <a:hlinkClick r:id="rId16"/>
              </a:rPr>
              <a:t>https://youtu.be/BV2KYV-yhL0</a:t>
            </a:r>
            <a:r>
              <a:rPr sz="1500" b="1" i="0">
                <a:solidFill>
                  <a:srgbClr val="1A1A1A"/>
                </a:solidFill>
                <a:latin typeface="Calibri"/>
              </a:rPr>
              <a:t>     Notebook: </a:t>
            </a:r>
            <a:r>
              <a:rPr sz="1500" b="0" i="0">
                <a:solidFill>
                  <a:srgbClr val="6C1CF0"/>
                </a:solidFill>
                <a:latin typeface="Calibri"/>
              </a:rPr>
              <a:t>VOID-NAV_Quantum_Simulation.ipynb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DAHUnQAtPfw</dc:identifier>
  <dcterms:modified xsi:type="dcterms:W3CDTF">2011-08-01T06:04:30Z</dcterms:modified>
  <cp:revision>1</cp:revision>
  <dc:title>QFF_Abstract.pptx</dc:title>
</cp:coreProperties>
</file>